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2E2E"/>
    <a:srgbClr val="FFA3A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78" y="-8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CBDB-186B-4268-8B34-3BFCC130087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6CDD-E3E0-45EE-A162-613B897239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CBDB-186B-4268-8B34-3BFCC130087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6CDD-E3E0-45EE-A162-613B897239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CBDB-186B-4268-8B34-3BFCC130087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6CDD-E3E0-45EE-A162-613B897239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CBDB-186B-4268-8B34-3BFCC130087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6CDD-E3E0-45EE-A162-613B897239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CBDB-186B-4268-8B34-3BFCC130087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6CDD-E3E0-45EE-A162-613B897239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CBDB-186B-4268-8B34-3BFCC130087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6CDD-E3E0-45EE-A162-613B897239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CBDB-186B-4268-8B34-3BFCC130087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6CDD-E3E0-45EE-A162-613B897239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CBDB-186B-4268-8B34-3BFCC130087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6CDD-E3E0-45EE-A162-613B897239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CBDB-186B-4268-8B34-3BFCC130087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6CDD-E3E0-45EE-A162-613B897239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CBDB-186B-4268-8B34-3BFCC130087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6CDD-E3E0-45EE-A162-613B897239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CBDB-186B-4268-8B34-3BFCC130087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6CDD-E3E0-45EE-A162-613B897239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6CBDB-186B-4268-8B34-3BFCC130087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86CDD-E3E0-45EE-A162-613B8972399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5387975"/>
            <a:ext cx="9144000" cy="1470025"/>
          </a:xfrm>
        </p:spPr>
        <p:txBody>
          <a:bodyPr/>
          <a:lstStyle/>
          <a:p>
            <a:r>
              <a:rPr lang="en-US" b="1" dirty="0" err="1" smtClean="0">
                <a:solidFill>
                  <a:schemeClr val="bg2"/>
                </a:solidFill>
              </a:rPr>
              <a:t>Rh</a:t>
            </a:r>
            <a:r>
              <a:rPr lang="en-US" b="1" dirty="0" smtClean="0">
                <a:solidFill>
                  <a:schemeClr val="bg2"/>
                </a:solidFill>
              </a:rPr>
              <a:t> Incompatibility</a:t>
            </a:r>
            <a:endParaRPr lang="en-US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RH Factor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00552" cy="2185990"/>
          </a:xfrm>
        </p:spPr>
        <p:txBody>
          <a:bodyPr/>
          <a:lstStyle/>
          <a:p>
            <a:r>
              <a:rPr lang="de-DE" sz="2400" dirty="0" smtClean="0"/>
              <a:t>Discovered in 1937 by Karl Landsteiner &amp; Alexander Weiner.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istockphoto-1185454756-612x6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2" y="1500174"/>
            <a:ext cx="2942696" cy="15001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0034" y="3929066"/>
            <a:ext cx="7715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Named after Rhesus monkey experiments.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Genotype</a:t>
            </a:r>
            <a:endParaRPr lang="en-US" dirty="0"/>
          </a:p>
        </p:txBody>
      </p:sp>
      <p:pic>
        <p:nvPicPr>
          <p:cNvPr id="4" name="Content Placeholder 3" descr="Screenshot 2025-09-25 11360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034" y="1285860"/>
            <a:ext cx="8136476" cy="5286412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86304" cy="4525963"/>
          </a:xfrm>
        </p:spPr>
        <p:txBody>
          <a:bodyPr/>
          <a:lstStyle/>
          <a:p>
            <a:r>
              <a:rPr lang="en-US" dirty="0" err="1" smtClean="0"/>
              <a:t>Rh</a:t>
            </a:r>
            <a:r>
              <a:rPr lang="en-US" dirty="0" smtClean="0"/>
              <a:t> incompatibility is a condition which develops when there is a difference in </a:t>
            </a:r>
            <a:r>
              <a:rPr lang="en-US" dirty="0" err="1" smtClean="0"/>
              <a:t>Rh</a:t>
            </a:r>
            <a:r>
              <a:rPr lang="en-US" dirty="0" smtClean="0"/>
              <a:t> blood type between the pregnant mother (</a:t>
            </a:r>
            <a:r>
              <a:rPr lang="en-US" dirty="0" err="1" smtClean="0"/>
              <a:t>Rh</a:t>
            </a:r>
            <a:r>
              <a:rPr lang="en-US" dirty="0" smtClean="0"/>
              <a:t> negative) and the fetus (</a:t>
            </a:r>
            <a:r>
              <a:rPr lang="en-US" dirty="0" err="1" smtClean="0"/>
              <a:t>Rh</a:t>
            </a:r>
            <a:r>
              <a:rPr lang="en-US" dirty="0" smtClean="0"/>
              <a:t> positive).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Rh</a:t>
            </a:r>
            <a:r>
              <a:rPr lang="en-US" dirty="0" smtClean="0"/>
              <a:t> Type and Pregnancy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 person’s </a:t>
            </a:r>
            <a:r>
              <a:rPr lang="en-US" dirty="0" err="1" smtClean="0"/>
              <a:t>Rh</a:t>
            </a:r>
            <a:r>
              <a:rPr lang="en-US" dirty="0" smtClean="0"/>
              <a:t> type is generally most relevant in pregnancies.</a:t>
            </a:r>
          </a:p>
          <a:p>
            <a:pPr lvl="1"/>
            <a:r>
              <a:rPr lang="en-US" dirty="0" smtClean="0"/>
              <a:t>Mother = </a:t>
            </a:r>
            <a:r>
              <a:rPr lang="en-US" dirty="0" err="1" smtClean="0"/>
              <a:t>Rh</a:t>
            </a:r>
            <a:r>
              <a:rPr lang="en-US" dirty="0" smtClean="0"/>
              <a:t> negative</a:t>
            </a:r>
          </a:p>
          <a:p>
            <a:pPr lvl="1"/>
            <a:r>
              <a:rPr lang="en-US" dirty="0" smtClean="0"/>
              <a:t>Father = </a:t>
            </a:r>
            <a:r>
              <a:rPr lang="en-US" dirty="0" err="1" smtClean="0"/>
              <a:t>Rh</a:t>
            </a:r>
            <a:r>
              <a:rPr lang="en-US" dirty="0" smtClean="0"/>
              <a:t> positive</a:t>
            </a:r>
          </a:p>
          <a:p>
            <a:pPr lvl="1"/>
            <a:r>
              <a:rPr lang="en-US" dirty="0" smtClean="0"/>
              <a:t>Baby may inherit </a:t>
            </a:r>
            <a:r>
              <a:rPr lang="en-US" dirty="0" err="1" smtClean="0"/>
              <a:t>Rh</a:t>
            </a:r>
            <a:r>
              <a:rPr lang="en-US" dirty="0" smtClean="0"/>
              <a:t> positive type</a:t>
            </a:r>
          </a:p>
          <a:p>
            <a:r>
              <a:rPr lang="en-US" dirty="0" smtClean="0"/>
              <a:t>Mother may produce antibodies if fetal bloo</a:t>
            </a:r>
            <a:r>
              <a:rPr lang="en-US" dirty="0" smtClean="0"/>
              <a:t>d enters her bloodstream.</a:t>
            </a:r>
          </a:p>
          <a:p>
            <a:r>
              <a:rPr lang="en-US" dirty="0" smtClean="0"/>
              <a:t>These antibodies could cross back through the placenta and harm the developing baby’s red blood cells.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428736"/>
            <a:ext cx="8229600" cy="4525963"/>
          </a:xfrm>
        </p:spPr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ometimes during pregnancy or birth, </a:t>
            </a:r>
            <a:r>
              <a:rPr lang="en-US" dirty="0" err="1" smtClean="0"/>
              <a:t>fetomaternal</a:t>
            </a:r>
            <a:r>
              <a:rPr lang="en-US" dirty="0" smtClean="0"/>
              <a:t> hemorrhage occurs. The woman’s immune system responds by producing anti-D antibodies, causing sensitization.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0034" y="500042"/>
            <a:ext cx="80010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 smtClean="0"/>
              <a:t>Rh</a:t>
            </a:r>
            <a:r>
              <a:rPr lang="en-US" sz="4400" dirty="0" smtClean="0"/>
              <a:t> Type and Pregnancy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Causes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difference in blood type between mother and baby causes </a:t>
            </a:r>
            <a:r>
              <a:rPr lang="en-US" dirty="0" err="1" smtClean="0"/>
              <a:t>Rh</a:t>
            </a:r>
            <a:r>
              <a:rPr lang="en-US" dirty="0" smtClean="0"/>
              <a:t> incompatibility only when the mother is </a:t>
            </a:r>
            <a:r>
              <a:rPr lang="en-US" dirty="0" err="1" smtClean="0"/>
              <a:t>Rh</a:t>
            </a:r>
            <a:r>
              <a:rPr lang="en-US" dirty="0" smtClean="0"/>
              <a:t> negative and baby is </a:t>
            </a:r>
            <a:r>
              <a:rPr lang="en-US" dirty="0" err="1" smtClean="0"/>
              <a:t>Rh</a:t>
            </a:r>
            <a:r>
              <a:rPr lang="en-US" dirty="0" smtClean="0"/>
              <a:t> positive.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Risk Factor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previous pregnancy</a:t>
            </a:r>
          </a:p>
          <a:p>
            <a:r>
              <a:rPr lang="en-US" dirty="0" smtClean="0"/>
              <a:t>An ectopic pregnancy, miscarriage, or induced abortion</a:t>
            </a:r>
          </a:p>
          <a:p>
            <a:r>
              <a:rPr lang="en-US" dirty="0" smtClean="0"/>
              <a:t>A mismatched blood transfusion or stem cell transplant</a:t>
            </a:r>
          </a:p>
          <a:p>
            <a:r>
              <a:rPr lang="en-US" dirty="0" smtClean="0"/>
              <a:t>An injection, puncture, or injury involving </a:t>
            </a:r>
            <a:r>
              <a:rPr lang="en-US" dirty="0" err="1" smtClean="0"/>
              <a:t>Rh</a:t>
            </a:r>
            <a:r>
              <a:rPr lang="en-US" dirty="0" smtClean="0"/>
              <a:t> positive blood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Pathophysiology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2500306"/>
            <a:ext cx="2786050" cy="242889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/>
              <a:t>Father </a:t>
            </a:r>
            <a:r>
              <a:rPr lang="en-US" sz="3200" b="1" dirty="0" err="1" smtClean="0"/>
              <a:t>RhD</a:t>
            </a:r>
            <a:r>
              <a:rPr lang="en-US" sz="3200" b="1" dirty="0" smtClean="0"/>
              <a:t>+</a:t>
            </a:r>
          </a:p>
          <a:p>
            <a:r>
              <a:rPr lang="en-US" sz="3200" b="1" dirty="0" smtClean="0"/>
              <a:t>Mother </a:t>
            </a:r>
            <a:r>
              <a:rPr lang="en-US" sz="3200" b="1" dirty="0" err="1" smtClean="0"/>
              <a:t>RhD</a:t>
            </a:r>
            <a:r>
              <a:rPr lang="en-US" sz="3200" b="1" dirty="0" smtClean="0"/>
              <a:t>-</a:t>
            </a:r>
          </a:p>
          <a:p>
            <a:r>
              <a:rPr lang="en-US" sz="3200" b="1" dirty="0" smtClean="0"/>
              <a:t>Fetus </a:t>
            </a:r>
            <a:r>
              <a:rPr lang="en-US" sz="3200" b="1" dirty="0" err="1" smtClean="0"/>
              <a:t>RhD</a:t>
            </a:r>
            <a:r>
              <a:rPr lang="en-US" sz="3200" b="1" dirty="0" smtClean="0"/>
              <a:t>+</a:t>
            </a:r>
            <a:endParaRPr lang="en-US" sz="3200" b="1" dirty="0"/>
          </a:p>
        </p:txBody>
      </p:sp>
      <p:sp>
        <p:nvSpPr>
          <p:cNvPr id="6" name="Right Arrow 5"/>
          <p:cNvSpPr/>
          <p:nvPr/>
        </p:nvSpPr>
        <p:spPr>
          <a:xfrm>
            <a:off x="3071802" y="2928934"/>
            <a:ext cx="2143140" cy="71438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57818" y="1928802"/>
            <a:ext cx="3571868" cy="350046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/>
              <a:t>First newborn </a:t>
            </a:r>
            <a:r>
              <a:rPr lang="en-US" sz="3200" b="1" dirty="0" err="1" smtClean="0"/>
              <a:t>RhD</a:t>
            </a:r>
            <a:r>
              <a:rPr lang="en-US" sz="3200" b="1" dirty="0" smtClean="0"/>
              <a:t>+ safe. But mother </a:t>
            </a:r>
            <a:r>
              <a:rPr lang="en-US" sz="3200" b="1" dirty="0" err="1" smtClean="0"/>
              <a:t>RhD</a:t>
            </a:r>
            <a:r>
              <a:rPr lang="en-US" sz="3200" b="1" dirty="0" smtClean="0"/>
              <a:t>- is now sensitized to </a:t>
            </a:r>
            <a:r>
              <a:rPr lang="en-US" sz="3200" b="1" dirty="0" err="1" smtClean="0"/>
              <a:t>RhD</a:t>
            </a:r>
            <a:r>
              <a:rPr lang="en-US" sz="3200" b="1" dirty="0" smtClean="0"/>
              <a:t> antigen</a:t>
            </a:r>
            <a:endParaRPr lang="en-US" sz="3200" b="1" dirty="0"/>
          </a:p>
        </p:txBody>
      </p:sp>
      <p:sp>
        <p:nvSpPr>
          <p:cNvPr id="8" name="Rectangle 7"/>
          <p:cNvSpPr/>
          <p:nvPr/>
        </p:nvSpPr>
        <p:spPr>
          <a:xfrm>
            <a:off x="3143240" y="3857628"/>
            <a:ext cx="2071702" cy="92869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Fetal – maternal blood transfer during </a:t>
            </a:r>
            <a:r>
              <a:rPr lang="en-US" b="1" dirty="0" err="1" smtClean="0"/>
              <a:t>labour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5286380" y="571480"/>
            <a:ext cx="3643338" cy="10715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</a:t>
            </a:r>
            <a:r>
              <a:rPr lang="en-US" sz="2800" b="1" baseline="30000" dirty="0" smtClean="0"/>
              <a:t>st</a:t>
            </a:r>
            <a:r>
              <a:rPr lang="en-US" sz="2800" b="1" dirty="0" smtClean="0"/>
              <a:t>  Pregnancy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Pathophysiology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4282" y="1571612"/>
            <a:ext cx="8229600" cy="4525963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2844" y="2428868"/>
            <a:ext cx="1357322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/>
              <a:t>Repeat encounter with Fetal </a:t>
            </a:r>
            <a:r>
              <a:rPr lang="en-US" sz="2000" b="1" dirty="0" err="1" smtClean="0"/>
              <a:t>RhD</a:t>
            </a:r>
            <a:r>
              <a:rPr lang="en-US" sz="2000" b="1" dirty="0" smtClean="0"/>
              <a:t> antigen</a:t>
            </a:r>
            <a:endParaRPr lang="en-US" sz="2000" b="1" dirty="0"/>
          </a:p>
        </p:txBody>
      </p:sp>
      <p:sp>
        <p:nvSpPr>
          <p:cNvPr id="9" name="Rounded Rectangle 8"/>
          <p:cNvSpPr/>
          <p:nvPr/>
        </p:nvSpPr>
        <p:spPr>
          <a:xfrm>
            <a:off x="1357290" y="1857364"/>
            <a:ext cx="1857388" cy="164307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Rapid production of </a:t>
            </a:r>
            <a:r>
              <a:rPr lang="en-US" b="1" dirty="0" err="1" smtClean="0"/>
              <a:t>IgG</a:t>
            </a:r>
            <a:r>
              <a:rPr lang="en-US" b="1" dirty="0" smtClean="0"/>
              <a:t> anti-D by mother</a:t>
            </a:r>
            <a:endParaRPr lang="en-US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4071934" y="1857364"/>
            <a:ext cx="1857388" cy="164307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Maternal </a:t>
            </a:r>
            <a:r>
              <a:rPr lang="en-US" b="1" dirty="0" err="1" smtClean="0"/>
              <a:t>IgG</a:t>
            </a:r>
            <a:r>
              <a:rPr lang="en-US" b="1" dirty="0" smtClean="0"/>
              <a:t> anti-D crosses placenta</a:t>
            </a:r>
            <a:endParaRPr lang="en-US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6715108" y="1857364"/>
            <a:ext cx="1857388" cy="164307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IgG</a:t>
            </a:r>
            <a:r>
              <a:rPr lang="en-US" b="1" dirty="0" smtClean="0"/>
              <a:t> anti D attaches to fetal BBC and marks them for destruction</a:t>
            </a:r>
            <a:endParaRPr lang="en-US" b="1" dirty="0"/>
          </a:p>
        </p:txBody>
      </p:sp>
      <p:sp>
        <p:nvSpPr>
          <p:cNvPr id="12" name="Rounded Rectangle 11"/>
          <p:cNvSpPr/>
          <p:nvPr/>
        </p:nvSpPr>
        <p:spPr>
          <a:xfrm>
            <a:off x="4000496" y="4071942"/>
            <a:ext cx="1857388" cy="228601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Increased </a:t>
            </a:r>
            <a:r>
              <a:rPr lang="en-US" b="1" dirty="0" err="1" smtClean="0"/>
              <a:t>bilirubin</a:t>
            </a:r>
            <a:r>
              <a:rPr lang="en-US" b="1" dirty="0" smtClean="0"/>
              <a:t>, CNS damage(</a:t>
            </a:r>
            <a:r>
              <a:rPr lang="en-US" b="1" dirty="0" err="1" smtClean="0"/>
              <a:t>kernicterus</a:t>
            </a:r>
            <a:r>
              <a:rPr lang="en-US" b="1" dirty="0" smtClean="0"/>
              <a:t>), death</a:t>
            </a:r>
            <a:endParaRPr lang="en-US" b="1" dirty="0"/>
          </a:p>
        </p:txBody>
      </p:sp>
      <p:sp>
        <p:nvSpPr>
          <p:cNvPr id="13" name="Rounded Rectangle 12"/>
          <p:cNvSpPr/>
          <p:nvPr/>
        </p:nvSpPr>
        <p:spPr>
          <a:xfrm>
            <a:off x="6715108" y="4214794"/>
            <a:ext cx="1857388" cy="228601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Fetal or newborn hemolytic anemia</a:t>
            </a:r>
            <a:endParaRPr lang="en-US" b="1" dirty="0"/>
          </a:p>
        </p:txBody>
      </p:sp>
      <p:sp>
        <p:nvSpPr>
          <p:cNvPr id="14" name="Right Arrow 13"/>
          <p:cNvSpPr/>
          <p:nvPr/>
        </p:nvSpPr>
        <p:spPr>
          <a:xfrm>
            <a:off x="3357554" y="2500306"/>
            <a:ext cx="642942" cy="500066"/>
          </a:xfrm>
          <a:prstGeom prst="rightArrow">
            <a:avLst/>
          </a:prstGeom>
          <a:solidFill>
            <a:schemeClr val="accent2">
              <a:lumMod val="75000"/>
              <a:alpha val="66000"/>
            </a:schemeClr>
          </a:solidFill>
          <a:ln>
            <a:noFill/>
          </a:ln>
          <a:effectLst>
            <a:outerShdw blurRad="50800" dist="50800"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6000760" y="2428868"/>
            <a:ext cx="642942" cy="500066"/>
          </a:xfrm>
          <a:prstGeom prst="rightArrow">
            <a:avLst/>
          </a:prstGeom>
          <a:solidFill>
            <a:schemeClr val="accent2">
              <a:lumMod val="75000"/>
              <a:alpha val="66000"/>
            </a:schemeClr>
          </a:solidFill>
          <a:ln>
            <a:noFill/>
          </a:ln>
          <a:effectLst>
            <a:outerShdw blurRad="50800" dist="50800"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 rot="5400000">
            <a:off x="7500958" y="3643314"/>
            <a:ext cx="642942" cy="500066"/>
          </a:xfrm>
          <a:prstGeom prst="rightArrow">
            <a:avLst/>
          </a:prstGeom>
          <a:solidFill>
            <a:schemeClr val="accent2">
              <a:lumMod val="75000"/>
              <a:alpha val="66000"/>
            </a:schemeClr>
          </a:solidFill>
          <a:ln>
            <a:noFill/>
          </a:ln>
          <a:effectLst>
            <a:outerShdw blurRad="50800" dist="50800"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 rot="10800000">
            <a:off x="5929322" y="4786322"/>
            <a:ext cx="642942" cy="500066"/>
          </a:xfrm>
          <a:prstGeom prst="rightArrow">
            <a:avLst/>
          </a:prstGeom>
          <a:solidFill>
            <a:schemeClr val="accent2">
              <a:lumMod val="75000"/>
              <a:alpha val="66000"/>
            </a:schemeClr>
          </a:solidFill>
          <a:ln>
            <a:noFill/>
          </a:ln>
          <a:effectLst>
            <a:outerShdw blurRad="50800" dist="50800"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000628" y="571480"/>
            <a:ext cx="3643338" cy="10715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2</a:t>
            </a:r>
            <a:r>
              <a:rPr lang="en-US" sz="2800" b="1" baseline="30000" dirty="0" smtClean="0"/>
              <a:t>nd</a:t>
            </a:r>
            <a:r>
              <a:rPr lang="en-US" sz="2800" b="1" dirty="0" smtClean="0"/>
              <a:t> Pregnancy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Pathophysiology</a:t>
            </a:r>
            <a:endParaRPr lang="en-US" dirty="0"/>
          </a:p>
        </p:txBody>
      </p:sp>
      <p:pic>
        <p:nvPicPr>
          <p:cNvPr id="4" name="Content Placeholder 3" descr="Screenshot 2025-09-25 12045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28736"/>
            <a:ext cx="9144000" cy="5429264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Diagnostic / laboratory tests: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Kleihauer–Betke</a:t>
            </a:r>
            <a:r>
              <a:rPr lang="en-US" dirty="0" smtClean="0"/>
              <a:t> test or flow </a:t>
            </a:r>
            <a:r>
              <a:rPr lang="en-US" dirty="0" err="1" smtClean="0"/>
              <a:t>cytometry</a:t>
            </a:r>
            <a:endParaRPr lang="en-US" dirty="0" smtClean="0"/>
          </a:p>
          <a:p>
            <a:r>
              <a:rPr lang="en-US" dirty="0" smtClean="0"/>
              <a:t>Indirect Coombs test</a:t>
            </a:r>
          </a:p>
          <a:p>
            <a:r>
              <a:rPr lang="en-US" dirty="0" smtClean="0"/>
              <a:t>Direct Coombs test</a:t>
            </a:r>
          </a:p>
          <a:p>
            <a:r>
              <a:rPr lang="en-US" dirty="0" smtClean="0"/>
              <a:t>Blood count</a:t>
            </a:r>
          </a:p>
          <a:p>
            <a:r>
              <a:rPr lang="en-US" dirty="0" err="1" smtClean="0"/>
              <a:t>Bilirubin</a:t>
            </a:r>
            <a:r>
              <a:rPr lang="en-US" dirty="0" smtClean="0"/>
              <a:t> (direct &amp; indirect)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Signs and Symptoms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Hemolysis</a:t>
            </a:r>
            <a:endParaRPr lang="en-US" dirty="0" smtClean="0"/>
          </a:p>
          <a:p>
            <a:r>
              <a:rPr lang="en-US" dirty="0" smtClean="0"/>
              <a:t>Jaundice</a:t>
            </a:r>
          </a:p>
          <a:p>
            <a:r>
              <a:rPr lang="en-US" dirty="0" smtClean="0"/>
              <a:t>Generalized swelling (total body swelling)</a:t>
            </a:r>
          </a:p>
          <a:p>
            <a:r>
              <a:rPr lang="en-US" dirty="0" smtClean="0"/>
              <a:t>Respiratory distress</a:t>
            </a:r>
          </a:p>
          <a:p>
            <a:r>
              <a:rPr lang="en-US" dirty="0" smtClean="0"/>
              <a:t>Circulatory collapse</a:t>
            </a:r>
          </a:p>
          <a:p>
            <a:r>
              <a:rPr lang="en-US" dirty="0" err="1" smtClean="0"/>
              <a:t>Kernicterus</a:t>
            </a:r>
            <a:endParaRPr lang="en-US" dirty="0" smtClean="0"/>
          </a:p>
          <a:p>
            <a:r>
              <a:rPr lang="en-US" dirty="0" smtClean="0"/>
              <a:t>These may occur several days after delivery; signs include poor feeding, decreased activity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More severe forms / conditions: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Hydrops</a:t>
            </a:r>
            <a:r>
              <a:rPr lang="en-US" dirty="0" smtClean="0"/>
              <a:t> </a:t>
            </a:r>
            <a:r>
              <a:rPr lang="en-US" dirty="0" err="1" smtClean="0"/>
              <a:t>fetalis</a:t>
            </a:r>
            <a:endParaRPr lang="en-US" dirty="0" smtClean="0"/>
          </a:p>
          <a:p>
            <a:r>
              <a:rPr lang="en-US" dirty="0" err="1" smtClean="0"/>
              <a:t>Icterus</a:t>
            </a:r>
            <a:r>
              <a:rPr lang="en-US" dirty="0" smtClean="0"/>
              <a:t> gravis </a:t>
            </a:r>
            <a:r>
              <a:rPr lang="en-US" dirty="0" err="1" smtClean="0"/>
              <a:t>neonatorum</a:t>
            </a:r>
            <a:endParaRPr lang="en-US" dirty="0" smtClean="0"/>
          </a:p>
          <a:p>
            <a:r>
              <a:rPr lang="en-US" dirty="0" smtClean="0"/>
              <a:t>Congenital anemia of newborn</a:t>
            </a:r>
          </a:p>
        </p:txBody>
      </p:sp>
      <p:pic>
        <p:nvPicPr>
          <p:cNvPr id="4" name="Picture 3" descr="Screenshot 2025-09-25 1244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7561"/>
            <a:ext cx="9144000" cy="28146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Hydrops</a:t>
            </a:r>
            <a:r>
              <a:rPr lang="en-US" dirty="0" smtClean="0"/>
              <a:t> </a:t>
            </a:r>
            <a:r>
              <a:rPr lang="en-US" dirty="0" err="1" smtClean="0"/>
              <a:t>Fetalis</a:t>
            </a:r>
            <a:endParaRPr lang="en-US" dirty="0"/>
          </a:p>
        </p:txBody>
      </p:sp>
      <p:pic>
        <p:nvPicPr>
          <p:cNvPr id="4" name="Content Placeholder 3" descr="Screenshot 2025-09-25 12481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12" y="1571612"/>
            <a:ext cx="2486372" cy="21529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0034" y="1428736"/>
            <a:ext cx="45720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This is a most serious form of </a:t>
            </a:r>
            <a:r>
              <a:rPr lang="en-US" sz="3200" dirty="0" err="1" smtClean="0"/>
              <a:t>Rh</a:t>
            </a:r>
            <a:r>
              <a:rPr lang="en-US" sz="3200" dirty="0" smtClean="0"/>
              <a:t> </a:t>
            </a:r>
            <a:r>
              <a:rPr lang="en-US" sz="3200" dirty="0" err="1" smtClean="0"/>
              <a:t>haemolytic</a:t>
            </a:r>
            <a:r>
              <a:rPr lang="en-US" sz="3200" dirty="0" smtClean="0"/>
              <a:t> disease. Excessive destruction of the fetal red cells leads to severe </a:t>
            </a:r>
            <a:r>
              <a:rPr lang="en-US" sz="3200" dirty="0" err="1" smtClean="0"/>
              <a:t>anaemia</a:t>
            </a:r>
            <a:r>
              <a:rPr lang="en-US" sz="3200" dirty="0" smtClean="0"/>
              <a:t>, tissue </a:t>
            </a:r>
            <a:r>
              <a:rPr lang="en-US" sz="3200" dirty="0" err="1" smtClean="0"/>
              <a:t>anoxaemia</a:t>
            </a:r>
            <a:r>
              <a:rPr lang="en-US" sz="3200" dirty="0" smtClean="0"/>
              <a:t> and metabolic acidosis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Icterus</a:t>
            </a:r>
            <a:r>
              <a:rPr lang="en-US" dirty="0" smtClean="0"/>
              <a:t> Gravis </a:t>
            </a:r>
            <a:r>
              <a:rPr lang="en-US" dirty="0" err="1" smtClean="0"/>
              <a:t>Neonatorum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This clinical entity is the effect of lesser form of fetal </a:t>
            </a:r>
            <a:r>
              <a:rPr lang="en-US" dirty="0" err="1" smtClean="0"/>
              <a:t>haemolysis</a:t>
            </a:r>
            <a:r>
              <a:rPr lang="en-US" dirty="0" smtClean="0"/>
              <a:t>. The baby is born alive without evidence of jaundice but soon develops it within 24 hours.</a:t>
            </a:r>
            <a:endParaRPr lang="en-US" dirty="0"/>
          </a:p>
        </p:txBody>
      </p:sp>
      <p:pic>
        <p:nvPicPr>
          <p:cNvPr id="26626" name="Picture 2" descr="C:\Users\User\Pictures\Screenshots\Screenshot 2025-09-25 12550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1643050"/>
            <a:ext cx="4572000" cy="35004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Congenital </a:t>
            </a:r>
            <a:r>
              <a:rPr lang="en-US" dirty="0" err="1" smtClean="0"/>
              <a:t>Anaemia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43296" cy="4525963"/>
          </a:xfrm>
        </p:spPr>
        <p:txBody>
          <a:bodyPr/>
          <a:lstStyle/>
          <a:p>
            <a:r>
              <a:rPr lang="en-US" dirty="0" smtClean="0"/>
              <a:t>Mildest form of diseases where the </a:t>
            </a:r>
            <a:r>
              <a:rPr lang="en-US" dirty="0" err="1" smtClean="0"/>
              <a:t>haemolysis</a:t>
            </a:r>
            <a:r>
              <a:rPr lang="en-US" dirty="0" smtClean="0"/>
              <a:t> is going on slowly. Although anemia develops slowly within the first few weeks</a:t>
            </a:r>
            <a:endParaRPr lang="en-US" dirty="0"/>
          </a:p>
        </p:txBody>
      </p:sp>
      <p:pic>
        <p:nvPicPr>
          <p:cNvPr id="4" name="Picture 3" descr="Screenshot 2025-09-25 1257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48" y="1643050"/>
            <a:ext cx="4686568" cy="38576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Treatment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Rh</a:t>
            </a:r>
            <a:r>
              <a:rPr lang="en-US" dirty="0" smtClean="0"/>
              <a:t> immunoglobulin (7th month &amp; within 72 hrs postpartum)</a:t>
            </a:r>
          </a:p>
          <a:p>
            <a:r>
              <a:rPr lang="en-US" dirty="0" smtClean="0"/>
              <a:t>Treat neonatal anemia (exchange transfusion / phototherapy if required)</a:t>
            </a:r>
          </a:p>
          <a:p>
            <a:r>
              <a:rPr lang="en-US" dirty="0" smtClean="0"/>
              <a:t>Intrauterine transfusions in severe cases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Prevention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Administer </a:t>
            </a:r>
            <a:r>
              <a:rPr lang="en-US" dirty="0" err="1" smtClean="0"/>
              <a:t>Rh</a:t>
            </a:r>
            <a:r>
              <a:rPr lang="en-US" dirty="0" smtClean="0"/>
              <a:t> immunoglobulin after sensitizing events</a:t>
            </a:r>
          </a:p>
          <a:p>
            <a:r>
              <a:rPr lang="en-US" dirty="0" smtClean="0"/>
              <a:t>Prevent mismatched transfusions</a:t>
            </a:r>
          </a:p>
          <a:p>
            <a:r>
              <a:rPr lang="en-US" dirty="0" smtClean="0"/>
              <a:t>Use ultrasound before amniocentesis</a:t>
            </a:r>
          </a:p>
          <a:p>
            <a:r>
              <a:rPr lang="en-US" dirty="0" smtClean="0"/>
              <a:t>Monitor </a:t>
            </a:r>
            <a:r>
              <a:rPr lang="en-US" dirty="0" err="1" smtClean="0"/>
              <a:t>Rh</a:t>
            </a:r>
            <a:r>
              <a:rPr lang="en-US" dirty="0" smtClean="0"/>
              <a:t> negative mothers throughout pregnancy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480</Words>
  <Application>Microsoft Office PowerPoint</Application>
  <PresentationFormat>On-screen Show (4:3)</PresentationFormat>
  <Paragraphs>79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Rh Incompatibility</vt:lpstr>
      <vt:lpstr>RH Factor</vt:lpstr>
      <vt:lpstr>Genotype</vt:lpstr>
      <vt:lpstr>Definition</vt:lpstr>
      <vt:lpstr>Rh Type and Pregnancy</vt:lpstr>
      <vt:lpstr>Slide 6</vt:lpstr>
      <vt:lpstr>Causes</vt:lpstr>
      <vt:lpstr>Risk Factor</vt:lpstr>
      <vt:lpstr>Pathophysiology</vt:lpstr>
      <vt:lpstr>Pathophysiology</vt:lpstr>
      <vt:lpstr>Pathophysiology</vt:lpstr>
      <vt:lpstr>Diagnostic / laboratory tests:</vt:lpstr>
      <vt:lpstr>Signs and Symptoms</vt:lpstr>
      <vt:lpstr>More severe forms / conditions:</vt:lpstr>
      <vt:lpstr>Hydrops Fetalis</vt:lpstr>
      <vt:lpstr>Icterus Gravis Neonatorum</vt:lpstr>
      <vt:lpstr>Congenital Anaemia</vt:lpstr>
      <vt:lpstr>Treatment</vt:lpstr>
      <vt:lpstr>Prevention</vt:lpstr>
      <vt:lpstr>Slide 20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</dc:title>
  <dc:creator>User</dc:creator>
  <cp:lastModifiedBy>User</cp:lastModifiedBy>
  <cp:revision>13</cp:revision>
  <dcterms:created xsi:type="dcterms:W3CDTF">2025-09-25T05:33:35Z</dcterms:created>
  <dcterms:modified xsi:type="dcterms:W3CDTF">2025-09-25T07:30:13Z</dcterms:modified>
</cp:coreProperties>
</file>