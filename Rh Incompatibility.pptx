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6" r:id="rId19"/>
    <p:sldId id="277" r:id="rId20"/>
    <p:sldId id="278" r:id="rId21"/>
    <p:sldId id="274" r:id="rId22"/>
    <p:sldId id="273" r:id="rId23"/>
    <p:sldId id="275" r:id="rId2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82E2E"/>
    <a:srgbClr val="FFA3A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84" d="100"/>
          <a:sy n="84" d="100"/>
        </p:scale>
        <p:origin x="1426" y="72"/>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A4A6CBDB-186B-4268-8B34-3BFCC1300874}" type="datetimeFigureOut">
              <a:rPr lang="en-US" smtClean="0"/>
              <a:t>9/25/2025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3986CDD-E3E0-45EE-A162-613B8972399D}"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4A6CBDB-186B-4268-8B34-3BFCC1300874}" type="datetimeFigureOut">
              <a:rPr lang="en-US" smtClean="0"/>
              <a:t>9/25/2025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3986CDD-E3E0-45EE-A162-613B8972399D}"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6CBDB-186B-4268-8B34-3BFCC1300874}" type="datetimeFigureOut">
              <a:rPr lang="en-US" smtClean="0"/>
              <a:t>9/25/2025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3986CDD-E3E0-45EE-A162-613B8972399D}"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4A6CBDB-186B-4268-8B34-3BFCC1300874}" type="datetimeFigureOut">
              <a:rPr lang="en-US" smtClean="0"/>
              <a:t>9/25/2025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3986CDD-E3E0-45EE-A162-613B8972399D}"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4A6CBDB-186B-4268-8B34-3BFCC1300874}" type="datetimeFigureOut">
              <a:rPr lang="en-US" smtClean="0"/>
              <a:t>9/25/2025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3986CDD-E3E0-45EE-A162-613B8972399D}"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4A6CBDB-186B-4268-8B34-3BFCC1300874}" type="datetimeFigureOut">
              <a:rPr lang="en-US" smtClean="0"/>
              <a:t>9/25/2025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3986CDD-E3E0-45EE-A162-613B8972399D}"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4A6CBDB-186B-4268-8B34-3BFCC1300874}" type="datetimeFigureOut">
              <a:rPr lang="en-US" smtClean="0"/>
              <a:t>9/25/2025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3986CDD-E3E0-45EE-A162-613B8972399D}"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4A6CBDB-186B-4268-8B34-3BFCC1300874}" type="datetimeFigureOut">
              <a:rPr lang="en-US" smtClean="0"/>
              <a:t>9/25/2025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3986CDD-E3E0-45EE-A162-613B8972399D}"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4A6CBDB-186B-4268-8B34-3BFCC1300874}" type="datetimeFigureOut">
              <a:rPr lang="en-US" smtClean="0"/>
              <a:t>9/25/2025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3986CDD-E3E0-45EE-A162-613B8972399D}"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4A6CBDB-186B-4268-8B34-3BFCC1300874}" type="datetimeFigureOut">
              <a:rPr lang="en-US" smtClean="0"/>
              <a:t>9/25/2025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3986CDD-E3E0-45EE-A162-613B8972399D}"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4A6CBDB-186B-4268-8B34-3BFCC1300874}" type="datetimeFigureOut">
              <a:rPr lang="en-US" smtClean="0"/>
              <a:t>9/25/2025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3986CDD-E3E0-45EE-A162-613B8972399D}"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4A6CBDB-186B-4268-8B34-3BFCC1300874}" type="datetimeFigureOut">
              <a:rPr lang="en-US" smtClean="0"/>
              <a:t>9/25/2025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3986CDD-E3E0-45EE-A162-613B8972399D}"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5000" r="-15000"/>
          </a:stretch>
        </a:blipFill>
        <a:effectLst/>
      </p:bgPr>
    </p:bg>
    <p:spTree>
      <p:nvGrpSpPr>
        <p:cNvPr id="1" name=""/>
        <p:cNvGrpSpPr/>
        <p:nvPr/>
      </p:nvGrpSpPr>
      <p:grpSpPr>
        <a:xfrm>
          <a:off x="0" y="0"/>
          <a:ext cx="0" cy="0"/>
          <a:chOff x="0" y="0"/>
          <a:chExt cx="0" cy="0"/>
        </a:xfrm>
      </p:grpSpPr>
      <p:sp>
        <p:nvSpPr>
          <p:cNvPr id="4" name="Title 3"/>
          <p:cNvSpPr>
            <a:spLocks noGrp="1"/>
          </p:cNvSpPr>
          <p:nvPr>
            <p:ph type="ctrTitle"/>
          </p:nvPr>
        </p:nvSpPr>
        <p:spPr>
          <a:xfrm>
            <a:off x="0" y="5387975"/>
            <a:ext cx="9144000" cy="1470025"/>
          </a:xfrm>
        </p:spPr>
        <p:txBody>
          <a:bodyPr/>
          <a:lstStyle/>
          <a:p>
            <a:r>
              <a:rPr lang="en-US" b="1" dirty="0" err="1">
                <a:solidFill>
                  <a:schemeClr val="bg2"/>
                </a:solidFill>
              </a:rPr>
              <a:t>Rh</a:t>
            </a:r>
            <a:r>
              <a:rPr lang="en-US" b="1" dirty="0">
                <a:solidFill>
                  <a:schemeClr val="bg2"/>
                </a:solidFill>
              </a:rPr>
              <a:t> Incompatibility</a:t>
            </a:r>
          </a:p>
        </p:txBody>
      </p:sp>
      <p:sp>
        <p:nvSpPr>
          <p:cNvPr id="2" name="TextBox 1">
            <a:extLst>
              <a:ext uri="{FF2B5EF4-FFF2-40B4-BE49-F238E27FC236}">
                <a16:creationId xmlns:a16="http://schemas.microsoft.com/office/drawing/2014/main" id="{06B5E24F-8B74-97D8-8177-739E45666879}"/>
              </a:ext>
            </a:extLst>
          </p:cNvPr>
          <p:cNvSpPr txBox="1"/>
          <p:nvPr/>
        </p:nvSpPr>
        <p:spPr>
          <a:xfrm>
            <a:off x="1691680" y="332656"/>
            <a:ext cx="5760640" cy="769441"/>
          </a:xfrm>
          <a:prstGeom prst="rect">
            <a:avLst/>
          </a:prstGeom>
          <a:noFill/>
        </p:spPr>
        <p:txBody>
          <a:bodyPr wrap="square" rtlCol="0">
            <a:spAutoFit/>
          </a:bodyPr>
          <a:lstStyle/>
          <a:p>
            <a:pPr algn="ctr"/>
            <a:r>
              <a:rPr lang="en-IN" sz="4400" dirty="0">
                <a:solidFill>
                  <a:schemeClr val="bg1"/>
                </a:solidFill>
              </a:rPr>
              <a:t>CLINICAL TEACHING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RH Factor</a:t>
            </a:r>
          </a:p>
        </p:txBody>
      </p:sp>
      <p:sp>
        <p:nvSpPr>
          <p:cNvPr id="3" name="Content Placeholder 2"/>
          <p:cNvSpPr>
            <a:spLocks noGrp="1"/>
          </p:cNvSpPr>
          <p:nvPr>
            <p:ph idx="1"/>
          </p:nvPr>
        </p:nvSpPr>
        <p:spPr>
          <a:xfrm>
            <a:off x="457200" y="1600200"/>
            <a:ext cx="5626968" cy="2044824"/>
          </a:xfrm>
        </p:spPr>
        <p:txBody>
          <a:bodyPr>
            <a:noAutofit/>
          </a:bodyPr>
          <a:lstStyle/>
          <a:p>
            <a:r>
              <a:rPr lang="en-US" dirty="0"/>
              <a:t>The Rhesus factor gets its name from experiments conducted in 1937 by scientists Karl Landsteiner and Alexander S. Weiner.</a:t>
            </a:r>
          </a:p>
          <a:p>
            <a:endParaRPr lang="en-US" sz="2400" dirty="0"/>
          </a:p>
          <a:p>
            <a:pPr marL="0" indent="0">
              <a:buNone/>
            </a:pPr>
            <a:endParaRPr lang="en-US" sz="2400" dirty="0"/>
          </a:p>
        </p:txBody>
      </p:sp>
      <p:pic>
        <p:nvPicPr>
          <p:cNvPr id="4" name="Picture 3" descr="istockphoto-1185454756-612x612.jpg"/>
          <p:cNvPicPr>
            <a:picLocks noChangeAspect="1"/>
          </p:cNvPicPr>
          <p:nvPr/>
        </p:nvPicPr>
        <p:blipFill>
          <a:blip r:embed="rId2"/>
          <a:stretch>
            <a:fillRect/>
          </a:stretch>
        </p:blipFill>
        <p:spPr>
          <a:xfrm>
            <a:off x="5572132" y="1500174"/>
            <a:ext cx="2942696" cy="1500198"/>
          </a:xfrm>
          <a:prstGeom prst="rect">
            <a:avLst/>
          </a:prstGeom>
        </p:spPr>
      </p:pic>
      <p:sp>
        <p:nvSpPr>
          <p:cNvPr id="5" name="TextBox 4">
            <a:extLst>
              <a:ext uri="{FF2B5EF4-FFF2-40B4-BE49-F238E27FC236}">
                <a16:creationId xmlns:a16="http://schemas.microsoft.com/office/drawing/2014/main" id="{6176B609-4A68-EB39-CF12-E9EA58C2829B}"/>
              </a:ext>
            </a:extLst>
          </p:cNvPr>
          <p:cNvSpPr txBox="1"/>
          <p:nvPr/>
        </p:nvSpPr>
        <p:spPr>
          <a:xfrm>
            <a:off x="467544" y="4077072"/>
            <a:ext cx="7992888"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Their experiments involved rabbits which, when injected with the Rhesus monkey’s red blood cells, produced an antigen that is present in the red blood cells of many humans.</a:t>
            </a:r>
            <a:endParaRPr lang="en-IN"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US" dirty="0"/>
              <a:t>Genotype</a:t>
            </a:r>
          </a:p>
        </p:txBody>
      </p:sp>
      <p:pic>
        <p:nvPicPr>
          <p:cNvPr id="4" name="Content Placeholder 3" descr="Screenshot 2025-09-25 113606.png"/>
          <p:cNvPicPr>
            <a:picLocks noGrp="1" noChangeAspect="1"/>
          </p:cNvPicPr>
          <p:nvPr>
            <p:ph idx="1"/>
          </p:nvPr>
        </p:nvPicPr>
        <p:blipFill>
          <a:blip r:embed="rId2"/>
          <a:stretch>
            <a:fillRect/>
          </a:stretch>
        </p:blipFill>
        <p:spPr>
          <a:xfrm>
            <a:off x="500034" y="1285860"/>
            <a:ext cx="8136476" cy="5286412"/>
          </a:xfr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Definition</a:t>
            </a:r>
          </a:p>
        </p:txBody>
      </p:sp>
      <p:sp>
        <p:nvSpPr>
          <p:cNvPr id="3" name="Content Placeholder 2"/>
          <p:cNvSpPr>
            <a:spLocks noGrp="1"/>
          </p:cNvSpPr>
          <p:nvPr>
            <p:ph idx="1"/>
          </p:nvPr>
        </p:nvSpPr>
        <p:spPr>
          <a:xfrm>
            <a:off x="457200" y="1600200"/>
            <a:ext cx="8147248" cy="4525963"/>
          </a:xfrm>
        </p:spPr>
        <p:txBody>
          <a:bodyPr/>
          <a:lstStyle/>
          <a:p>
            <a:r>
              <a:rPr lang="en-US" dirty="0" err="1"/>
              <a:t>Rh</a:t>
            </a:r>
            <a:r>
              <a:rPr lang="en-US" dirty="0"/>
              <a:t> incompatibility is a condition which develops when there is a difference in </a:t>
            </a:r>
            <a:r>
              <a:rPr lang="en-US" dirty="0" err="1"/>
              <a:t>Rh</a:t>
            </a:r>
            <a:r>
              <a:rPr lang="en-US" dirty="0"/>
              <a:t> blood type between the pregnant mother (</a:t>
            </a:r>
            <a:r>
              <a:rPr lang="en-US" dirty="0" err="1"/>
              <a:t>Rh</a:t>
            </a:r>
            <a:r>
              <a:rPr lang="en-US" dirty="0"/>
              <a:t> negative) and the fetus (</a:t>
            </a:r>
            <a:r>
              <a:rPr lang="en-US" dirty="0" err="1"/>
              <a:t>Rh</a:t>
            </a:r>
            <a:r>
              <a:rPr lang="en-US" dirty="0"/>
              <a:t> positive).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err="1"/>
              <a:t>Rh</a:t>
            </a:r>
            <a:r>
              <a:rPr lang="en-US" dirty="0"/>
              <a:t> Type and Pregnancy</a:t>
            </a:r>
          </a:p>
        </p:txBody>
      </p:sp>
      <p:sp>
        <p:nvSpPr>
          <p:cNvPr id="3" name="Content Placeholder 2"/>
          <p:cNvSpPr>
            <a:spLocks noGrp="1"/>
          </p:cNvSpPr>
          <p:nvPr>
            <p:ph idx="1"/>
          </p:nvPr>
        </p:nvSpPr>
        <p:spPr/>
        <p:txBody>
          <a:bodyPr>
            <a:normAutofit lnSpcReduction="10000"/>
          </a:bodyPr>
          <a:lstStyle/>
          <a:p>
            <a:r>
              <a:rPr lang="en-US" dirty="0"/>
              <a:t>A person’s Rh type is generally most relevant in pregnancies.</a:t>
            </a:r>
          </a:p>
          <a:p>
            <a:r>
              <a:rPr lang="en-US" dirty="0"/>
              <a:t>If the pregnant woman and her husband are both Rh negative, there is no risk of Rh incompatibility.</a:t>
            </a:r>
          </a:p>
          <a:p>
            <a:r>
              <a:rPr lang="en-US" dirty="0"/>
              <a:t>If the mother is Rh negative and the husband is Rh positive, the baby may inherit the father’s Rh positive type, creating incompatibility.</a:t>
            </a:r>
          </a:p>
          <a:p>
            <a:pPr>
              <a:buNone/>
            </a:pP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57158" y="1428736"/>
            <a:ext cx="8229600" cy="4525963"/>
          </a:xfrm>
        </p:spPr>
        <p:txBody>
          <a:bodyPr>
            <a:normAutofit fontScale="92500" lnSpcReduction="20000"/>
          </a:bodyPr>
          <a:lstStyle/>
          <a:p>
            <a:r>
              <a:rPr lang="en-US" dirty="0"/>
              <a:t>If some of the fetal blood enters the mother’s bloodstream, her body may produce antibodies. These antibodies could cross back through the placenta and harm the developing baby’s red blood cells.</a:t>
            </a:r>
          </a:p>
          <a:p>
            <a:r>
              <a:rPr lang="en-US" dirty="0"/>
              <a:t>Normally the placenta acts as a barrier to fetal blood entering maternal circulation. However, sometimes during pregnancy or birth, </a:t>
            </a:r>
            <a:r>
              <a:rPr lang="en-US" dirty="0" err="1"/>
              <a:t>fetomaternal</a:t>
            </a:r>
            <a:r>
              <a:rPr lang="en-US" dirty="0"/>
              <a:t> hemorrhage occurs. The woman’s immune system responds by producing anti-D antibodies, causing sensitization.</a:t>
            </a:r>
          </a:p>
        </p:txBody>
      </p:sp>
      <p:sp>
        <p:nvSpPr>
          <p:cNvPr id="4" name="TextBox 3"/>
          <p:cNvSpPr txBox="1"/>
          <p:nvPr/>
        </p:nvSpPr>
        <p:spPr>
          <a:xfrm>
            <a:off x="500034" y="500042"/>
            <a:ext cx="8001056" cy="769441"/>
          </a:xfrm>
          <a:prstGeom prst="rect">
            <a:avLst/>
          </a:prstGeom>
          <a:noFill/>
        </p:spPr>
        <p:txBody>
          <a:bodyPr wrap="square" rtlCol="0">
            <a:spAutoFit/>
          </a:bodyPr>
          <a:lstStyle/>
          <a:p>
            <a:r>
              <a:rPr lang="en-US" sz="4400" dirty="0" err="1"/>
              <a:t>Rh</a:t>
            </a:r>
            <a:r>
              <a:rPr lang="en-US" sz="4400" dirty="0"/>
              <a:t> Type and Pregnancy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Causes</a:t>
            </a:r>
          </a:p>
        </p:txBody>
      </p:sp>
      <p:sp>
        <p:nvSpPr>
          <p:cNvPr id="3" name="Content Placeholder 2"/>
          <p:cNvSpPr>
            <a:spLocks noGrp="1"/>
          </p:cNvSpPr>
          <p:nvPr>
            <p:ph idx="1"/>
          </p:nvPr>
        </p:nvSpPr>
        <p:spPr/>
        <p:txBody>
          <a:bodyPr/>
          <a:lstStyle/>
          <a:p>
            <a:r>
              <a:rPr lang="en-US" dirty="0"/>
              <a:t>The difference in blood type between mother and baby causes </a:t>
            </a:r>
            <a:r>
              <a:rPr lang="en-US" dirty="0" err="1"/>
              <a:t>Rh</a:t>
            </a:r>
            <a:r>
              <a:rPr lang="en-US" dirty="0"/>
              <a:t> incompatibility only when the mother is </a:t>
            </a:r>
            <a:r>
              <a:rPr lang="en-US" dirty="0" err="1"/>
              <a:t>Rh</a:t>
            </a:r>
            <a:r>
              <a:rPr lang="en-US" dirty="0"/>
              <a:t> negative and baby is </a:t>
            </a:r>
            <a:r>
              <a:rPr lang="en-US" dirty="0" err="1"/>
              <a:t>Rh</a:t>
            </a:r>
            <a:r>
              <a:rPr lang="en-US" dirty="0"/>
              <a:t> positive.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Risk Factor</a:t>
            </a:r>
          </a:p>
        </p:txBody>
      </p:sp>
      <p:sp>
        <p:nvSpPr>
          <p:cNvPr id="3" name="Content Placeholder 2"/>
          <p:cNvSpPr>
            <a:spLocks noGrp="1"/>
          </p:cNvSpPr>
          <p:nvPr>
            <p:ph idx="1"/>
          </p:nvPr>
        </p:nvSpPr>
        <p:spPr/>
        <p:txBody>
          <a:bodyPr/>
          <a:lstStyle/>
          <a:p>
            <a:r>
              <a:rPr lang="en-US" dirty="0"/>
              <a:t>A previous pregnancy</a:t>
            </a:r>
          </a:p>
          <a:p>
            <a:r>
              <a:rPr lang="en-US" dirty="0"/>
              <a:t>An ectopic pregnancy, miscarriage, or induced abortion</a:t>
            </a:r>
          </a:p>
          <a:p>
            <a:r>
              <a:rPr lang="en-US" dirty="0"/>
              <a:t>A mismatched blood transfusion or stem cell transplant</a:t>
            </a:r>
          </a:p>
          <a:p>
            <a:r>
              <a:rPr lang="en-US" dirty="0"/>
              <a:t>An injection, puncture, or injury involving </a:t>
            </a:r>
            <a:r>
              <a:rPr lang="en-US" dirty="0" err="1"/>
              <a:t>Rh</a:t>
            </a:r>
            <a:r>
              <a:rPr lang="en-US" dirty="0"/>
              <a:t> positive blood</a:t>
            </a:r>
          </a:p>
          <a:p>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err="1"/>
              <a:t>Pathophysiology</a:t>
            </a:r>
            <a:endParaRPr lang="en-US" dirty="0"/>
          </a:p>
        </p:txBody>
      </p:sp>
      <p:sp>
        <p:nvSpPr>
          <p:cNvPr id="5" name="Rectangle 4"/>
          <p:cNvSpPr/>
          <p:nvPr/>
        </p:nvSpPr>
        <p:spPr>
          <a:xfrm>
            <a:off x="0" y="2500306"/>
            <a:ext cx="2786050" cy="2428892"/>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3200" b="1" dirty="0"/>
              <a:t>Father </a:t>
            </a:r>
            <a:r>
              <a:rPr lang="en-US" sz="3200" b="1" dirty="0" err="1"/>
              <a:t>RhD</a:t>
            </a:r>
            <a:r>
              <a:rPr lang="en-US" sz="3200" b="1" dirty="0"/>
              <a:t>+</a:t>
            </a:r>
          </a:p>
          <a:p>
            <a:r>
              <a:rPr lang="en-US" sz="3200" b="1" dirty="0"/>
              <a:t>Mother </a:t>
            </a:r>
            <a:r>
              <a:rPr lang="en-US" sz="3200" b="1" dirty="0" err="1"/>
              <a:t>RhD</a:t>
            </a:r>
            <a:r>
              <a:rPr lang="en-US" sz="3200" b="1" dirty="0"/>
              <a:t>-</a:t>
            </a:r>
          </a:p>
          <a:p>
            <a:r>
              <a:rPr lang="en-US" sz="3200" b="1" dirty="0"/>
              <a:t>Fetus </a:t>
            </a:r>
            <a:r>
              <a:rPr lang="en-US" sz="3200" b="1" dirty="0" err="1"/>
              <a:t>RhD</a:t>
            </a:r>
            <a:r>
              <a:rPr lang="en-US" sz="3200" b="1" dirty="0"/>
              <a:t>+</a:t>
            </a:r>
          </a:p>
        </p:txBody>
      </p:sp>
      <p:sp>
        <p:nvSpPr>
          <p:cNvPr id="6" name="Right Arrow 5"/>
          <p:cNvSpPr/>
          <p:nvPr/>
        </p:nvSpPr>
        <p:spPr>
          <a:xfrm>
            <a:off x="3071802" y="2928934"/>
            <a:ext cx="2143140" cy="714380"/>
          </a:xfrm>
          <a:prstGeom prst="rightArrow">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5357818" y="1928802"/>
            <a:ext cx="3571868" cy="3500462"/>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3200" b="1" dirty="0"/>
              <a:t>First newborn </a:t>
            </a:r>
            <a:r>
              <a:rPr lang="en-US" sz="3200" b="1" dirty="0" err="1"/>
              <a:t>RhD</a:t>
            </a:r>
            <a:r>
              <a:rPr lang="en-US" sz="3200" b="1" dirty="0"/>
              <a:t>+ safe. But mother </a:t>
            </a:r>
            <a:r>
              <a:rPr lang="en-US" sz="3200" b="1" dirty="0" err="1"/>
              <a:t>RhD</a:t>
            </a:r>
            <a:r>
              <a:rPr lang="en-US" sz="3200" b="1" dirty="0"/>
              <a:t>- is now sensitized to </a:t>
            </a:r>
            <a:r>
              <a:rPr lang="en-US" sz="3200" b="1" dirty="0" err="1"/>
              <a:t>RhD</a:t>
            </a:r>
            <a:r>
              <a:rPr lang="en-US" sz="3200" b="1" dirty="0"/>
              <a:t> antigen</a:t>
            </a:r>
          </a:p>
        </p:txBody>
      </p:sp>
      <p:sp>
        <p:nvSpPr>
          <p:cNvPr id="8" name="Rectangle 7"/>
          <p:cNvSpPr/>
          <p:nvPr/>
        </p:nvSpPr>
        <p:spPr>
          <a:xfrm>
            <a:off x="3143240" y="3857628"/>
            <a:ext cx="2071702" cy="928694"/>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Fetal – maternal blood transfer during </a:t>
            </a:r>
            <a:r>
              <a:rPr lang="en-US" b="1" dirty="0" err="1"/>
              <a:t>labour</a:t>
            </a:r>
            <a:endParaRPr lang="en-US" b="1" dirty="0"/>
          </a:p>
        </p:txBody>
      </p:sp>
      <p:sp>
        <p:nvSpPr>
          <p:cNvPr id="9" name="Rectangle 8"/>
          <p:cNvSpPr/>
          <p:nvPr/>
        </p:nvSpPr>
        <p:spPr>
          <a:xfrm>
            <a:off x="5286380" y="571480"/>
            <a:ext cx="3643338" cy="107157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1</a:t>
            </a:r>
            <a:r>
              <a:rPr lang="en-US" sz="2800" b="1" baseline="30000" dirty="0"/>
              <a:t>st</a:t>
            </a:r>
            <a:r>
              <a:rPr lang="en-US" sz="2800" b="1" dirty="0"/>
              <a:t>  Pregnancy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err="1"/>
              <a:t>Pathophysiology</a:t>
            </a:r>
            <a:endParaRPr lang="en-US" dirty="0"/>
          </a:p>
        </p:txBody>
      </p:sp>
      <p:sp>
        <p:nvSpPr>
          <p:cNvPr id="5" name="Content Placeholder 4"/>
          <p:cNvSpPr>
            <a:spLocks noGrp="1"/>
          </p:cNvSpPr>
          <p:nvPr>
            <p:ph idx="1"/>
          </p:nvPr>
        </p:nvSpPr>
        <p:spPr>
          <a:xfrm>
            <a:off x="214282" y="1571612"/>
            <a:ext cx="8229600" cy="4525963"/>
          </a:xfrm>
        </p:spPr>
        <p:txBody>
          <a:bodyPr>
            <a:normAutofit/>
          </a:bodyPr>
          <a:lstStyle/>
          <a:p>
            <a:endParaRPr lang="en-US" dirty="0"/>
          </a:p>
          <a:p>
            <a:endParaRPr lang="en-US" dirty="0"/>
          </a:p>
          <a:p>
            <a:endParaRPr lang="en-US" dirty="0"/>
          </a:p>
          <a:p>
            <a:endParaRPr lang="en-US" dirty="0"/>
          </a:p>
          <a:p>
            <a:endParaRPr lang="en-US" dirty="0"/>
          </a:p>
          <a:p>
            <a:endParaRPr lang="en-US" dirty="0"/>
          </a:p>
          <a:p>
            <a:endParaRPr lang="en-US" dirty="0"/>
          </a:p>
          <a:p>
            <a:pPr>
              <a:buNone/>
            </a:pPr>
            <a:endParaRPr lang="en-US" dirty="0"/>
          </a:p>
          <a:p>
            <a:pPr>
              <a:buNone/>
            </a:pPr>
            <a:endParaRPr lang="en-US" dirty="0"/>
          </a:p>
        </p:txBody>
      </p:sp>
      <p:sp>
        <p:nvSpPr>
          <p:cNvPr id="8" name="TextBox 7"/>
          <p:cNvSpPr txBox="1"/>
          <p:nvPr/>
        </p:nvSpPr>
        <p:spPr>
          <a:xfrm>
            <a:off x="142844" y="2428868"/>
            <a:ext cx="1357322" cy="2352952"/>
          </a:xfrm>
          <a:prstGeom prst="rect">
            <a:avLst/>
          </a:prstGeom>
          <a:noFill/>
        </p:spPr>
        <p:txBody>
          <a:bodyPr wrap="square" rtlCol="0">
            <a:spAutoFit/>
          </a:bodyPr>
          <a:lstStyle/>
          <a:p>
            <a:pPr>
              <a:lnSpc>
                <a:spcPct val="150000"/>
              </a:lnSpc>
            </a:pPr>
            <a:r>
              <a:rPr lang="en-US" sz="2000" b="1" dirty="0"/>
              <a:t>Repeat encounter with Fetal </a:t>
            </a:r>
            <a:r>
              <a:rPr lang="en-US" sz="2000" b="1" dirty="0" err="1"/>
              <a:t>RhD</a:t>
            </a:r>
            <a:r>
              <a:rPr lang="en-US" sz="2000" b="1" dirty="0"/>
              <a:t> antigen</a:t>
            </a:r>
          </a:p>
        </p:txBody>
      </p:sp>
      <p:sp>
        <p:nvSpPr>
          <p:cNvPr id="9" name="Rounded Rectangle 8"/>
          <p:cNvSpPr/>
          <p:nvPr/>
        </p:nvSpPr>
        <p:spPr>
          <a:xfrm>
            <a:off x="1357290" y="1857364"/>
            <a:ext cx="1857388" cy="1643074"/>
          </a:xfrm>
          <a:prstGeom prst="round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Rapid production of </a:t>
            </a:r>
            <a:r>
              <a:rPr lang="en-US" b="1" dirty="0" err="1"/>
              <a:t>IgG</a:t>
            </a:r>
            <a:r>
              <a:rPr lang="en-US" b="1" dirty="0"/>
              <a:t> anti-D by mother</a:t>
            </a:r>
          </a:p>
        </p:txBody>
      </p:sp>
      <p:sp>
        <p:nvSpPr>
          <p:cNvPr id="10" name="Rounded Rectangle 9"/>
          <p:cNvSpPr/>
          <p:nvPr/>
        </p:nvSpPr>
        <p:spPr>
          <a:xfrm>
            <a:off x="4071934" y="1857364"/>
            <a:ext cx="1857388" cy="1643074"/>
          </a:xfrm>
          <a:prstGeom prst="round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Maternal </a:t>
            </a:r>
            <a:r>
              <a:rPr lang="en-US" b="1" dirty="0" err="1"/>
              <a:t>IgG</a:t>
            </a:r>
            <a:r>
              <a:rPr lang="en-US" b="1" dirty="0"/>
              <a:t> anti-D crosses placenta</a:t>
            </a:r>
          </a:p>
        </p:txBody>
      </p:sp>
      <p:sp>
        <p:nvSpPr>
          <p:cNvPr id="11" name="Rounded Rectangle 10"/>
          <p:cNvSpPr/>
          <p:nvPr/>
        </p:nvSpPr>
        <p:spPr>
          <a:xfrm>
            <a:off x="6715108" y="1857364"/>
            <a:ext cx="1857388" cy="1643074"/>
          </a:xfrm>
          <a:prstGeom prst="round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err="1"/>
              <a:t>IgG</a:t>
            </a:r>
            <a:r>
              <a:rPr lang="en-US" b="1" dirty="0"/>
              <a:t> anti D attaches to fetal BBC and marks them for destruction</a:t>
            </a:r>
          </a:p>
        </p:txBody>
      </p:sp>
      <p:sp>
        <p:nvSpPr>
          <p:cNvPr id="12" name="Rounded Rectangle 11"/>
          <p:cNvSpPr/>
          <p:nvPr/>
        </p:nvSpPr>
        <p:spPr>
          <a:xfrm>
            <a:off x="4000496" y="4071942"/>
            <a:ext cx="1857388" cy="2286016"/>
          </a:xfrm>
          <a:prstGeom prst="round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Increased </a:t>
            </a:r>
            <a:r>
              <a:rPr lang="en-US" b="1" dirty="0" err="1"/>
              <a:t>bilirubin</a:t>
            </a:r>
            <a:r>
              <a:rPr lang="en-US" b="1" dirty="0"/>
              <a:t>, CNS damage(</a:t>
            </a:r>
            <a:r>
              <a:rPr lang="en-US" b="1" dirty="0" err="1"/>
              <a:t>kernicterus</a:t>
            </a:r>
            <a:r>
              <a:rPr lang="en-US" b="1" dirty="0"/>
              <a:t>), death</a:t>
            </a:r>
          </a:p>
        </p:txBody>
      </p:sp>
      <p:sp>
        <p:nvSpPr>
          <p:cNvPr id="13" name="Rounded Rectangle 12"/>
          <p:cNvSpPr/>
          <p:nvPr/>
        </p:nvSpPr>
        <p:spPr>
          <a:xfrm>
            <a:off x="6715108" y="4214794"/>
            <a:ext cx="1857388" cy="2286016"/>
          </a:xfrm>
          <a:prstGeom prst="round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Fetal or newborn hemolytic anemia</a:t>
            </a:r>
          </a:p>
        </p:txBody>
      </p:sp>
      <p:sp>
        <p:nvSpPr>
          <p:cNvPr id="14" name="Right Arrow 13"/>
          <p:cNvSpPr/>
          <p:nvPr/>
        </p:nvSpPr>
        <p:spPr>
          <a:xfrm>
            <a:off x="3357554" y="2500306"/>
            <a:ext cx="642942" cy="500066"/>
          </a:xfrm>
          <a:prstGeom prst="rightArrow">
            <a:avLst/>
          </a:prstGeom>
          <a:solidFill>
            <a:schemeClr val="accent2">
              <a:lumMod val="75000"/>
              <a:alpha val="66000"/>
            </a:schemeClr>
          </a:solidFill>
          <a:ln>
            <a:noFill/>
          </a:ln>
          <a:effectLst>
            <a:outerShdw blurRad="50800" dist="50800" sx="1000" sy="1000" algn="ctr" rotWithShape="0">
              <a:srgbClr val="000000"/>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p:cNvSpPr/>
          <p:nvPr/>
        </p:nvSpPr>
        <p:spPr>
          <a:xfrm>
            <a:off x="6000760" y="2428868"/>
            <a:ext cx="642942" cy="500066"/>
          </a:xfrm>
          <a:prstGeom prst="rightArrow">
            <a:avLst/>
          </a:prstGeom>
          <a:solidFill>
            <a:schemeClr val="accent2">
              <a:lumMod val="75000"/>
              <a:alpha val="66000"/>
            </a:schemeClr>
          </a:solidFill>
          <a:ln>
            <a:noFill/>
          </a:ln>
          <a:effectLst>
            <a:outerShdw blurRad="50800" dist="50800" sx="1000" sy="1000" algn="ctr" rotWithShape="0">
              <a:srgbClr val="000000"/>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p:cNvSpPr/>
          <p:nvPr/>
        </p:nvSpPr>
        <p:spPr>
          <a:xfrm rot="5400000">
            <a:off x="7500958" y="3643314"/>
            <a:ext cx="642942" cy="500066"/>
          </a:xfrm>
          <a:prstGeom prst="rightArrow">
            <a:avLst/>
          </a:prstGeom>
          <a:solidFill>
            <a:schemeClr val="accent2">
              <a:lumMod val="75000"/>
              <a:alpha val="66000"/>
            </a:schemeClr>
          </a:solidFill>
          <a:ln>
            <a:noFill/>
          </a:ln>
          <a:effectLst>
            <a:outerShdw blurRad="50800" dist="50800" sx="1000" sy="1000" algn="ctr" rotWithShape="0">
              <a:srgbClr val="000000"/>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p:cNvSpPr/>
          <p:nvPr/>
        </p:nvSpPr>
        <p:spPr>
          <a:xfrm rot="10800000">
            <a:off x="5929322" y="4786322"/>
            <a:ext cx="642942" cy="500066"/>
          </a:xfrm>
          <a:prstGeom prst="rightArrow">
            <a:avLst/>
          </a:prstGeom>
          <a:solidFill>
            <a:schemeClr val="accent2">
              <a:lumMod val="75000"/>
              <a:alpha val="66000"/>
            </a:schemeClr>
          </a:solidFill>
          <a:ln>
            <a:noFill/>
          </a:ln>
          <a:effectLst>
            <a:outerShdw blurRad="50800" dist="50800" sx="1000" sy="1000" algn="ctr" rotWithShape="0">
              <a:srgbClr val="000000"/>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5000628" y="571480"/>
            <a:ext cx="3643338" cy="107157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2</a:t>
            </a:r>
            <a:r>
              <a:rPr lang="en-US" sz="2800" b="1" baseline="30000" dirty="0"/>
              <a:t>nd</a:t>
            </a:r>
            <a:r>
              <a:rPr lang="en-US" sz="2800" b="1" dirty="0"/>
              <a:t> Pregnancy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err="1"/>
              <a:t>Pathophysiology</a:t>
            </a:r>
            <a:endParaRPr lang="en-US" dirty="0"/>
          </a:p>
        </p:txBody>
      </p:sp>
      <p:pic>
        <p:nvPicPr>
          <p:cNvPr id="4" name="Content Placeholder 3" descr="Screenshot 2025-09-25 120455.png"/>
          <p:cNvPicPr>
            <a:picLocks noGrp="1" noChangeAspect="1"/>
          </p:cNvPicPr>
          <p:nvPr>
            <p:ph idx="1"/>
          </p:nvPr>
        </p:nvPicPr>
        <p:blipFill>
          <a:blip r:embed="rId2"/>
          <a:stretch>
            <a:fillRect/>
          </a:stretch>
        </p:blipFill>
        <p:spPr>
          <a:xfrm>
            <a:off x="0" y="1428736"/>
            <a:ext cx="9144000" cy="5429264"/>
          </a:xfr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US" dirty="0"/>
              <a:t>Diagnostic / laboratory tests:</a:t>
            </a:r>
          </a:p>
        </p:txBody>
      </p:sp>
      <p:sp>
        <p:nvSpPr>
          <p:cNvPr id="3" name="Content Placeholder 2"/>
          <p:cNvSpPr>
            <a:spLocks noGrp="1"/>
          </p:cNvSpPr>
          <p:nvPr>
            <p:ph idx="1"/>
          </p:nvPr>
        </p:nvSpPr>
        <p:spPr/>
        <p:txBody>
          <a:bodyPr/>
          <a:lstStyle/>
          <a:p>
            <a:r>
              <a:rPr lang="en-US" dirty="0" err="1"/>
              <a:t>Kleihauer–Betke</a:t>
            </a:r>
            <a:r>
              <a:rPr lang="en-US" dirty="0"/>
              <a:t> test or flow </a:t>
            </a:r>
            <a:r>
              <a:rPr lang="en-US" dirty="0" err="1"/>
              <a:t>cytometry</a:t>
            </a:r>
            <a:endParaRPr lang="en-US" dirty="0"/>
          </a:p>
          <a:p>
            <a:r>
              <a:rPr lang="en-US" dirty="0"/>
              <a:t>Indirect Coombs test</a:t>
            </a:r>
          </a:p>
          <a:p>
            <a:r>
              <a:rPr lang="en-US" dirty="0"/>
              <a:t>Direct Coombs test</a:t>
            </a:r>
          </a:p>
          <a:p>
            <a:r>
              <a:rPr lang="en-US" dirty="0"/>
              <a:t>Blood count</a:t>
            </a:r>
          </a:p>
          <a:p>
            <a:r>
              <a:rPr lang="en-US" dirty="0" err="1"/>
              <a:t>Bilirubin</a:t>
            </a:r>
            <a:r>
              <a:rPr lang="en-US" dirty="0"/>
              <a:t> (direct &amp; indirect)</a:t>
            </a:r>
          </a:p>
          <a:p>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Signs and Symptoms</a:t>
            </a:r>
          </a:p>
        </p:txBody>
      </p:sp>
      <p:sp>
        <p:nvSpPr>
          <p:cNvPr id="3" name="Content Placeholder 2"/>
          <p:cNvSpPr>
            <a:spLocks noGrp="1"/>
          </p:cNvSpPr>
          <p:nvPr>
            <p:ph idx="1"/>
          </p:nvPr>
        </p:nvSpPr>
        <p:spPr/>
        <p:txBody>
          <a:bodyPr>
            <a:normAutofit lnSpcReduction="10000"/>
          </a:bodyPr>
          <a:lstStyle/>
          <a:p>
            <a:r>
              <a:rPr lang="en-US" dirty="0" err="1"/>
              <a:t>Hemolysis</a:t>
            </a:r>
            <a:endParaRPr lang="en-US" dirty="0"/>
          </a:p>
          <a:p>
            <a:r>
              <a:rPr lang="en-US" dirty="0"/>
              <a:t>Jaundice</a:t>
            </a:r>
          </a:p>
          <a:p>
            <a:r>
              <a:rPr lang="en-US" dirty="0"/>
              <a:t>Generalized swelling (total body swelling)</a:t>
            </a:r>
          </a:p>
          <a:p>
            <a:r>
              <a:rPr lang="en-US" dirty="0"/>
              <a:t>Respiratory distress</a:t>
            </a:r>
          </a:p>
          <a:p>
            <a:r>
              <a:rPr lang="en-US" dirty="0"/>
              <a:t>Circulatory collapse</a:t>
            </a:r>
          </a:p>
          <a:p>
            <a:r>
              <a:rPr lang="en-US" dirty="0" err="1"/>
              <a:t>Kernicterus</a:t>
            </a:r>
            <a:endParaRPr lang="en-US" dirty="0"/>
          </a:p>
          <a:p>
            <a:r>
              <a:rPr lang="en-US" dirty="0"/>
              <a:t>These may occur several days after delivery; signs include poor feeding, decreased activity</a:t>
            </a:r>
          </a:p>
          <a:p>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More severe forms / conditions:</a:t>
            </a:r>
          </a:p>
        </p:txBody>
      </p:sp>
      <p:sp>
        <p:nvSpPr>
          <p:cNvPr id="3" name="Content Placeholder 2"/>
          <p:cNvSpPr>
            <a:spLocks noGrp="1"/>
          </p:cNvSpPr>
          <p:nvPr>
            <p:ph idx="1"/>
          </p:nvPr>
        </p:nvSpPr>
        <p:spPr/>
        <p:txBody>
          <a:bodyPr>
            <a:normAutofit/>
          </a:bodyPr>
          <a:lstStyle/>
          <a:p>
            <a:r>
              <a:rPr lang="en-US" dirty="0" err="1"/>
              <a:t>Hydrops</a:t>
            </a:r>
            <a:r>
              <a:rPr lang="en-US" dirty="0"/>
              <a:t> </a:t>
            </a:r>
            <a:r>
              <a:rPr lang="en-US" dirty="0" err="1"/>
              <a:t>fetalis</a:t>
            </a:r>
            <a:endParaRPr lang="en-US" dirty="0"/>
          </a:p>
          <a:p>
            <a:r>
              <a:rPr lang="en-US" dirty="0" err="1"/>
              <a:t>Icterus</a:t>
            </a:r>
            <a:r>
              <a:rPr lang="en-US" dirty="0"/>
              <a:t> gravis </a:t>
            </a:r>
            <a:r>
              <a:rPr lang="en-US" dirty="0" err="1"/>
              <a:t>neonatorum</a:t>
            </a:r>
            <a:endParaRPr lang="en-US" dirty="0"/>
          </a:p>
          <a:p>
            <a:r>
              <a:rPr lang="en-US" dirty="0"/>
              <a:t>Congenital anemia of newborn</a:t>
            </a:r>
          </a:p>
        </p:txBody>
      </p:sp>
      <p:pic>
        <p:nvPicPr>
          <p:cNvPr id="4" name="Picture 3" descr="Screenshot 2025-09-25 124458.png"/>
          <p:cNvPicPr>
            <a:picLocks noChangeAspect="1"/>
          </p:cNvPicPr>
          <p:nvPr/>
        </p:nvPicPr>
        <p:blipFill>
          <a:blip r:embed="rId2"/>
          <a:stretch>
            <a:fillRect/>
          </a:stretch>
        </p:blipFill>
        <p:spPr>
          <a:xfrm>
            <a:off x="0" y="3357561"/>
            <a:ext cx="9144000" cy="281468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err="1"/>
              <a:t>Hydrops</a:t>
            </a:r>
            <a:r>
              <a:rPr lang="en-US" dirty="0"/>
              <a:t> </a:t>
            </a:r>
            <a:r>
              <a:rPr lang="en-US" dirty="0" err="1"/>
              <a:t>Fetalis</a:t>
            </a:r>
            <a:endParaRPr lang="en-US" dirty="0"/>
          </a:p>
        </p:txBody>
      </p:sp>
      <p:pic>
        <p:nvPicPr>
          <p:cNvPr id="4" name="Content Placeholder 3" descr="Screenshot 2025-09-25 124815.png"/>
          <p:cNvPicPr>
            <a:picLocks noGrp="1" noChangeAspect="1"/>
          </p:cNvPicPr>
          <p:nvPr>
            <p:ph idx="1"/>
          </p:nvPr>
        </p:nvPicPr>
        <p:blipFill>
          <a:blip r:embed="rId2"/>
          <a:stretch>
            <a:fillRect/>
          </a:stretch>
        </p:blipFill>
        <p:spPr>
          <a:xfrm>
            <a:off x="6286512" y="1571612"/>
            <a:ext cx="2486372" cy="2152951"/>
          </a:xfrm>
          <a:prstGeom prst="rect">
            <a:avLst/>
          </a:prstGeom>
        </p:spPr>
      </p:pic>
      <p:sp>
        <p:nvSpPr>
          <p:cNvPr id="5" name="TextBox 4"/>
          <p:cNvSpPr txBox="1"/>
          <p:nvPr/>
        </p:nvSpPr>
        <p:spPr>
          <a:xfrm>
            <a:off x="500034" y="1428736"/>
            <a:ext cx="4572032" cy="3539430"/>
          </a:xfrm>
          <a:prstGeom prst="rect">
            <a:avLst/>
          </a:prstGeom>
          <a:noFill/>
        </p:spPr>
        <p:txBody>
          <a:bodyPr wrap="square" rtlCol="0">
            <a:spAutoFit/>
          </a:bodyPr>
          <a:lstStyle/>
          <a:p>
            <a:r>
              <a:rPr lang="en-US" sz="3200" dirty="0"/>
              <a:t>This is a most serious form of </a:t>
            </a:r>
            <a:r>
              <a:rPr lang="en-US" sz="3200" dirty="0" err="1"/>
              <a:t>Rh</a:t>
            </a:r>
            <a:r>
              <a:rPr lang="en-US" sz="3200" dirty="0"/>
              <a:t> </a:t>
            </a:r>
            <a:r>
              <a:rPr lang="en-US" sz="3200" dirty="0" err="1"/>
              <a:t>haemolytic</a:t>
            </a:r>
            <a:r>
              <a:rPr lang="en-US" sz="3200" dirty="0"/>
              <a:t> disease. Excessive destruction of the fetal red cells leads to severe </a:t>
            </a:r>
            <a:r>
              <a:rPr lang="en-US" sz="3200" dirty="0" err="1"/>
              <a:t>anaemia</a:t>
            </a:r>
            <a:r>
              <a:rPr lang="en-US" sz="3200" dirty="0"/>
              <a:t>, tissue </a:t>
            </a:r>
            <a:r>
              <a:rPr lang="en-US" sz="3200" dirty="0" err="1"/>
              <a:t>anoxaemia</a:t>
            </a:r>
            <a:r>
              <a:rPr lang="en-US" sz="3200" dirty="0"/>
              <a:t> and metabolic acidosis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err="1"/>
              <a:t>Icterus</a:t>
            </a:r>
            <a:r>
              <a:rPr lang="en-US" dirty="0"/>
              <a:t> Gravis </a:t>
            </a:r>
            <a:r>
              <a:rPr lang="en-US" dirty="0" err="1"/>
              <a:t>Neonatorum</a:t>
            </a:r>
            <a:endParaRPr lang="en-US" dirty="0"/>
          </a:p>
        </p:txBody>
      </p:sp>
      <p:sp>
        <p:nvSpPr>
          <p:cNvPr id="3" name="Content Placeholder 2"/>
          <p:cNvSpPr>
            <a:spLocks noGrp="1"/>
          </p:cNvSpPr>
          <p:nvPr>
            <p:ph idx="1"/>
          </p:nvPr>
        </p:nvSpPr>
        <p:spPr>
          <a:xfrm>
            <a:off x="457200" y="1600200"/>
            <a:ext cx="4114800" cy="4525963"/>
          </a:xfrm>
        </p:spPr>
        <p:txBody>
          <a:bodyPr/>
          <a:lstStyle/>
          <a:p>
            <a:pPr>
              <a:buNone/>
            </a:pPr>
            <a:r>
              <a:rPr lang="en-US" dirty="0"/>
              <a:t>This clinical entity is the effect of lesser form of fetal </a:t>
            </a:r>
            <a:r>
              <a:rPr lang="en-US" dirty="0" err="1"/>
              <a:t>haemolysis</a:t>
            </a:r>
            <a:r>
              <a:rPr lang="en-US" dirty="0"/>
              <a:t>. The baby is born alive without evidence of jaundice but soon develops it within 24 hours.</a:t>
            </a:r>
          </a:p>
        </p:txBody>
      </p:sp>
      <p:pic>
        <p:nvPicPr>
          <p:cNvPr id="26626" name="Picture 2" descr="C:\Users\User\Pictures\Screenshots\Screenshot 2025-09-25 125503.png"/>
          <p:cNvPicPr>
            <a:picLocks noChangeAspect="1" noChangeArrowheads="1"/>
          </p:cNvPicPr>
          <p:nvPr/>
        </p:nvPicPr>
        <p:blipFill>
          <a:blip r:embed="rId2"/>
          <a:srcRect/>
          <a:stretch>
            <a:fillRect/>
          </a:stretch>
        </p:blipFill>
        <p:spPr bwMode="auto">
          <a:xfrm>
            <a:off x="4572000" y="1643050"/>
            <a:ext cx="4572000" cy="3500462"/>
          </a:xfrm>
          <a:prstGeom prst="rect">
            <a:avLst/>
          </a:prstGeom>
          <a:noFill/>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Congenital </a:t>
            </a:r>
            <a:r>
              <a:rPr lang="en-US" dirty="0" err="1"/>
              <a:t>Anaemia</a:t>
            </a:r>
            <a:endParaRPr lang="en-US" dirty="0"/>
          </a:p>
        </p:txBody>
      </p:sp>
      <p:sp>
        <p:nvSpPr>
          <p:cNvPr id="3" name="Content Placeholder 2"/>
          <p:cNvSpPr>
            <a:spLocks noGrp="1"/>
          </p:cNvSpPr>
          <p:nvPr>
            <p:ph idx="1"/>
          </p:nvPr>
        </p:nvSpPr>
        <p:spPr>
          <a:xfrm>
            <a:off x="457200" y="1600200"/>
            <a:ext cx="3543296" cy="4525963"/>
          </a:xfrm>
        </p:spPr>
        <p:txBody>
          <a:bodyPr/>
          <a:lstStyle/>
          <a:p>
            <a:r>
              <a:rPr lang="en-US" dirty="0"/>
              <a:t>Mildest form of diseases where the </a:t>
            </a:r>
            <a:r>
              <a:rPr lang="en-US" dirty="0" err="1"/>
              <a:t>haemolysis</a:t>
            </a:r>
            <a:r>
              <a:rPr lang="en-US" dirty="0"/>
              <a:t> is going on slowly. Although anemia develops slowly within the first few weeks</a:t>
            </a:r>
          </a:p>
        </p:txBody>
      </p:sp>
      <p:pic>
        <p:nvPicPr>
          <p:cNvPr id="4" name="Picture 3" descr="Screenshot 2025-09-25 125735.png"/>
          <p:cNvPicPr>
            <a:picLocks noChangeAspect="1"/>
          </p:cNvPicPr>
          <p:nvPr/>
        </p:nvPicPr>
        <p:blipFill>
          <a:blip r:embed="rId2"/>
          <a:stretch>
            <a:fillRect/>
          </a:stretch>
        </p:blipFill>
        <p:spPr>
          <a:xfrm>
            <a:off x="4286248" y="1643050"/>
            <a:ext cx="4686568" cy="385765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17DEB3-904C-CAB2-8347-F3E291719F2E}"/>
              </a:ext>
            </a:extLst>
          </p:cNvPr>
          <p:cNvSpPr>
            <a:spLocks noGrp="1"/>
          </p:cNvSpPr>
          <p:nvPr>
            <p:ph type="title"/>
          </p:nvPr>
        </p:nvSpPr>
        <p:spPr/>
        <p:txBody>
          <a:bodyPr>
            <a:normAutofit fontScale="90000"/>
          </a:bodyPr>
          <a:lstStyle/>
          <a:p>
            <a:pPr algn="l"/>
            <a:r>
              <a:rPr lang="en-IN" dirty="0"/>
              <a:t>Risk Factor and Causes</a:t>
            </a:r>
            <a:br>
              <a:rPr lang="en-IN" dirty="0"/>
            </a:br>
            <a:endParaRPr lang="en-IN" dirty="0"/>
          </a:p>
        </p:txBody>
      </p:sp>
      <p:sp>
        <p:nvSpPr>
          <p:cNvPr id="3" name="Content Placeholder 2">
            <a:extLst>
              <a:ext uri="{FF2B5EF4-FFF2-40B4-BE49-F238E27FC236}">
                <a16:creationId xmlns:a16="http://schemas.microsoft.com/office/drawing/2014/main" id="{50832F69-0742-9F9D-AB05-B3B4BF0C520F}"/>
              </a:ext>
            </a:extLst>
          </p:cNvPr>
          <p:cNvSpPr>
            <a:spLocks noGrp="1"/>
          </p:cNvSpPr>
          <p:nvPr>
            <p:ph idx="1"/>
          </p:nvPr>
        </p:nvSpPr>
        <p:spPr/>
        <p:txBody>
          <a:bodyPr>
            <a:normAutofit fontScale="85000" lnSpcReduction="20000"/>
          </a:bodyPr>
          <a:lstStyle/>
          <a:p>
            <a:r>
              <a:rPr lang="en-IN" dirty="0"/>
              <a:t>The nursing process for Rh incompatibility focuses on prevention and monitoring through assessment (determining blood type and Rh factor), diagnosis (identifying Rh incompatibility), planning (scheduling Rh immune globulin administration), implementation (giving shots at 28 weeks and postpartum, and performing monitoring tests), and evaluation (assessing for sensitization and </a:t>
            </a:r>
            <a:r>
              <a:rPr lang="en-IN" dirty="0" err="1"/>
              <a:t>fetal</a:t>
            </a:r>
            <a:r>
              <a:rPr lang="en-IN" dirty="0"/>
              <a:t> well-being). The primary goal is to prevent Rh-negative mothers from becoming sensitized by providing </a:t>
            </a:r>
            <a:r>
              <a:rPr lang="en-IN" dirty="0" err="1"/>
              <a:t>RhIG</a:t>
            </a:r>
            <a:r>
              <a:rPr lang="en-IN" dirty="0"/>
              <a:t> (Rhogam) to stop the development of antibodies against Rh-positive blood. </a:t>
            </a:r>
          </a:p>
          <a:p>
            <a:endParaRPr lang="en-IN" dirty="0"/>
          </a:p>
        </p:txBody>
      </p:sp>
    </p:spTree>
    <p:extLst>
      <p:ext uri="{BB962C8B-B14F-4D97-AF65-F5344CB8AC3E}">
        <p14:creationId xmlns:p14="http://schemas.microsoft.com/office/powerpoint/2010/main" val="6402462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CB03A-C8C6-82DE-4C41-989E2C8B0EF3}"/>
              </a:ext>
            </a:extLst>
          </p:cNvPr>
          <p:cNvSpPr>
            <a:spLocks noGrp="1"/>
          </p:cNvSpPr>
          <p:nvPr>
            <p:ph type="title"/>
          </p:nvPr>
        </p:nvSpPr>
        <p:spPr/>
        <p:txBody>
          <a:bodyPr>
            <a:normAutofit fontScale="90000"/>
          </a:bodyPr>
          <a:lstStyle/>
          <a:p>
            <a:pPr algn="l"/>
            <a:r>
              <a:rPr lang="en-IN" dirty="0"/>
              <a:t>Risk Factor and Causes</a:t>
            </a:r>
            <a:br>
              <a:rPr lang="en-IN" dirty="0"/>
            </a:br>
            <a:endParaRPr lang="en-IN" dirty="0"/>
          </a:p>
        </p:txBody>
      </p:sp>
      <p:sp>
        <p:nvSpPr>
          <p:cNvPr id="3" name="Content Placeholder 2">
            <a:extLst>
              <a:ext uri="{FF2B5EF4-FFF2-40B4-BE49-F238E27FC236}">
                <a16:creationId xmlns:a16="http://schemas.microsoft.com/office/drawing/2014/main" id="{64106382-6DED-A81E-BAED-07DD99116A5C}"/>
              </a:ext>
            </a:extLst>
          </p:cNvPr>
          <p:cNvSpPr>
            <a:spLocks noGrp="1"/>
          </p:cNvSpPr>
          <p:nvPr>
            <p:ph idx="1"/>
          </p:nvPr>
        </p:nvSpPr>
        <p:spPr/>
        <p:txBody>
          <a:bodyPr>
            <a:normAutofit fontScale="55000" lnSpcReduction="20000"/>
          </a:bodyPr>
          <a:lstStyle/>
          <a:p>
            <a:pPr marL="0" indent="0">
              <a:buNone/>
            </a:pPr>
            <a:r>
              <a:rPr lang="en-IN" b="1" dirty="0"/>
              <a:t>Assessment</a:t>
            </a:r>
          </a:p>
          <a:p>
            <a:r>
              <a:rPr lang="en-IN" dirty="0"/>
              <a:t>Identify Rh status: The most crucial first step is to determine the mother's blood type and Rh factor through early prenatal screening. </a:t>
            </a:r>
          </a:p>
          <a:p>
            <a:r>
              <a:rPr lang="en-IN" dirty="0"/>
              <a:t>Assess for previous exposure: Inquire about any previous pregnancies, miscarriages, abortions, or trauma to the abdomen, as these events could lead to Rh sensitization. </a:t>
            </a:r>
          </a:p>
          <a:p>
            <a:pPr marL="0" indent="0">
              <a:buNone/>
            </a:pPr>
            <a:r>
              <a:rPr lang="en-IN" b="1" dirty="0"/>
              <a:t>Diagnosis </a:t>
            </a:r>
          </a:p>
          <a:p>
            <a:r>
              <a:rPr lang="en-IN" dirty="0"/>
              <a:t>Identify the issue: The diagnosis is "Rh incompatibility" if an Rh-negative mother is carrying an Rh-positive </a:t>
            </a:r>
            <a:r>
              <a:rPr lang="en-IN" dirty="0" err="1"/>
              <a:t>fetus</a:t>
            </a:r>
            <a:r>
              <a:rPr lang="en-IN" dirty="0"/>
              <a:t>, which can trigger antibody production.</a:t>
            </a:r>
          </a:p>
          <a:p>
            <a:pPr marL="0" indent="0">
              <a:buNone/>
            </a:pPr>
            <a:r>
              <a:rPr lang="en-IN" dirty="0"/>
              <a:t> </a:t>
            </a:r>
          </a:p>
          <a:p>
            <a:pPr marL="0" indent="0">
              <a:buNone/>
            </a:pPr>
            <a:r>
              <a:rPr lang="en-IN" b="1" dirty="0"/>
              <a:t>Planning</a:t>
            </a:r>
          </a:p>
          <a:p>
            <a:pPr marL="0" indent="0">
              <a:buNone/>
            </a:pPr>
            <a:r>
              <a:rPr lang="en-IN" dirty="0"/>
              <a:t> </a:t>
            </a:r>
          </a:p>
          <a:p>
            <a:r>
              <a:rPr lang="en-IN" dirty="0"/>
              <a:t>Prevent sensitization: The main nursing goal is to prevent Rh sensitization. </a:t>
            </a:r>
          </a:p>
          <a:p>
            <a:r>
              <a:rPr lang="en-IN" dirty="0"/>
              <a:t>Administer Rh immune globulin (</a:t>
            </a:r>
            <a:r>
              <a:rPr lang="en-IN" dirty="0" err="1"/>
              <a:t>RhIG</a:t>
            </a:r>
            <a:r>
              <a:rPr lang="en-IN" dirty="0"/>
              <a:t>): A plan is made to administer </a:t>
            </a:r>
            <a:r>
              <a:rPr lang="en-IN" dirty="0" err="1"/>
              <a:t>RhIG</a:t>
            </a:r>
            <a:r>
              <a:rPr lang="en-IN" dirty="0"/>
              <a:t> (e.g., RhoGAM) to prevent the mother's immune system from creating antibodies.</a:t>
            </a:r>
          </a:p>
          <a:p>
            <a:endParaRPr lang="en-IN" dirty="0"/>
          </a:p>
        </p:txBody>
      </p:sp>
    </p:spTree>
    <p:extLst>
      <p:ext uri="{BB962C8B-B14F-4D97-AF65-F5344CB8AC3E}">
        <p14:creationId xmlns:p14="http://schemas.microsoft.com/office/powerpoint/2010/main" val="15210042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57487-7F4C-A161-CF8A-ADF13CA8B607}"/>
              </a:ext>
            </a:extLst>
          </p:cNvPr>
          <p:cNvSpPr>
            <a:spLocks noGrp="1"/>
          </p:cNvSpPr>
          <p:nvPr>
            <p:ph type="title"/>
          </p:nvPr>
        </p:nvSpPr>
        <p:spPr/>
        <p:txBody>
          <a:bodyPr>
            <a:normAutofit fontScale="90000"/>
          </a:bodyPr>
          <a:lstStyle/>
          <a:p>
            <a:pPr algn="l"/>
            <a:r>
              <a:rPr lang="en-IN" dirty="0"/>
              <a:t>Risk Factor and Causes</a:t>
            </a:r>
            <a:br>
              <a:rPr lang="en-IN" dirty="0"/>
            </a:br>
            <a:endParaRPr lang="en-IN" dirty="0"/>
          </a:p>
        </p:txBody>
      </p:sp>
      <p:sp>
        <p:nvSpPr>
          <p:cNvPr id="3" name="Content Placeholder 2">
            <a:extLst>
              <a:ext uri="{FF2B5EF4-FFF2-40B4-BE49-F238E27FC236}">
                <a16:creationId xmlns:a16="http://schemas.microsoft.com/office/drawing/2014/main" id="{9DEC5109-6157-E09F-3DAA-DE2C13C97FFE}"/>
              </a:ext>
            </a:extLst>
          </p:cNvPr>
          <p:cNvSpPr>
            <a:spLocks noGrp="1"/>
          </p:cNvSpPr>
          <p:nvPr>
            <p:ph idx="1"/>
          </p:nvPr>
        </p:nvSpPr>
        <p:spPr>
          <a:xfrm>
            <a:off x="282352" y="1196752"/>
            <a:ext cx="8754144" cy="5386610"/>
          </a:xfrm>
        </p:spPr>
        <p:txBody>
          <a:bodyPr>
            <a:noAutofit/>
          </a:bodyPr>
          <a:lstStyle/>
          <a:p>
            <a:pPr marL="0" indent="0">
              <a:buNone/>
            </a:pPr>
            <a:r>
              <a:rPr lang="en-US" sz="1600" b="1" dirty="0"/>
              <a:t>Implementation </a:t>
            </a:r>
          </a:p>
          <a:p>
            <a:r>
              <a:rPr lang="en-US" sz="1600" b="1" dirty="0"/>
              <a:t>Administer </a:t>
            </a:r>
            <a:r>
              <a:rPr lang="en-US" sz="1600" b="1" dirty="0" err="1"/>
              <a:t>RhIG</a:t>
            </a:r>
            <a:r>
              <a:rPr lang="en-US" sz="1600" b="1" dirty="0"/>
              <a:t>:</a:t>
            </a:r>
            <a:endParaRPr lang="en-US" sz="1600" dirty="0"/>
          </a:p>
          <a:p>
            <a:pPr lvl="1"/>
            <a:r>
              <a:rPr lang="en-US" sz="1600" b="1" dirty="0"/>
              <a:t>At 28 weeks:</a:t>
            </a:r>
            <a:r>
              <a:rPr lang="en-US" sz="1600" dirty="0"/>
              <a:t> An </a:t>
            </a:r>
            <a:r>
              <a:rPr lang="en-US" sz="1600" dirty="0" err="1"/>
              <a:t>RhIG</a:t>
            </a:r>
            <a:r>
              <a:rPr lang="en-US" sz="1600" dirty="0"/>
              <a:t> shot is given to every Rh-negative mother, regardless of the baby's Rh status.</a:t>
            </a:r>
          </a:p>
          <a:p>
            <a:pPr lvl="1"/>
            <a:r>
              <a:rPr lang="en-US" sz="1600" b="1" dirty="0"/>
              <a:t>Postpartum:</a:t>
            </a:r>
            <a:r>
              <a:rPr lang="en-US" sz="1600" dirty="0"/>
              <a:t> Within 72 hours of delivery, another shot is given if the baby is found to be Rh-positive.</a:t>
            </a:r>
          </a:p>
          <a:p>
            <a:pPr lvl="1"/>
            <a:r>
              <a:rPr lang="en-US" sz="1600" b="1" dirty="0"/>
              <a:t>After events:</a:t>
            </a:r>
            <a:r>
              <a:rPr lang="en-US" sz="1600" dirty="0"/>
              <a:t> </a:t>
            </a:r>
            <a:r>
              <a:rPr lang="en-US" sz="1600" dirty="0" err="1"/>
              <a:t>RhIG</a:t>
            </a:r>
            <a:r>
              <a:rPr lang="en-US" sz="1600" dirty="0"/>
              <a:t> is also given after any event that could cause </a:t>
            </a:r>
            <a:r>
              <a:rPr lang="en-US" sz="1600" dirty="0" err="1"/>
              <a:t>fetomaternal</a:t>
            </a:r>
            <a:r>
              <a:rPr lang="en-US" sz="1600" dirty="0"/>
              <a:t> blood mixing, such as miscarriage, abortion, trauma, or invasive prenatal procedures like amniocentesis.</a:t>
            </a:r>
          </a:p>
          <a:p>
            <a:r>
              <a:rPr lang="en-US" sz="1600" b="1" dirty="0"/>
              <a:t>Monitor for antibodies:</a:t>
            </a:r>
            <a:r>
              <a:rPr lang="en-US" sz="1600" dirty="0"/>
              <a:t>  Perform regular antibody screenings to monitor for the development of antibodies.</a:t>
            </a:r>
          </a:p>
          <a:p>
            <a:r>
              <a:rPr lang="en-US" sz="1600" b="1" dirty="0"/>
              <a:t>Fetal monitoring:</a:t>
            </a:r>
            <a:r>
              <a:rPr lang="en-US" sz="1600" dirty="0"/>
              <a:t>   In cases of potential sensitization, use ultrasounds and Doppler scans to monitor the fetus for signs of anemia.</a:t>
            </a:r>
          </a:p>
          <a:p>
            <a:pPr marL="0" indent="0">
              <a:buNone/>
            </a:pPr>
            <a:r>
              <a:rPr lang="en-US" sz="1600" b="1" dirty="0"/>
              <a:t>Evaluation</a:t>
            </a:r>
          </a:p>
          <a:p>
            <a:r>
              <a:rPr lang="en-US" sz="1600" b="1" dirty="0"/>
              <a:t>Confirm prevention:</a:t>
            </a:r>
            <a:r>
              <a:rPr lang="en-US" sz="1600" dirty="0"/>
              <a:t>  Evaluate if </a:t>
            </a:r>
            <a:r>
              <a:rPr lang="en-US" sz="1600" dirty="0" err="1"/>
              <a:t>RhIG</a:t>
            </a:r>
            <a:r>
              <a:rPr lang="en-US" sz="1600" dirty="0"/>
              <a:t> successfully prevented the mother from producing antibodies. </a:t>
            </a:r>
          </a:p>
          <a:p>
            <a:r>
              <a:rPr lang="en-US" sz="1600" b="1" dirty="0"/>
              <a:t>Assess for complications:</a:t>
            </a:r>
            <a:r>
              <a:rPr lang="en-US" sz="1600" dirty="0"/>
              <a:t>   If sensitization has already occurred, monitor the fetus for signs of anemia, hydrops fetalis, or other complications. </a:t>
            </a:r>
          </a:p>
          <a:p>
            <a:r>
              <a:rPr lang="en-US" sz="1600" b="1" dirty="0"/>
              <a:t>Educate the mother:</a:t>
            </a:r>
            <a:r>
              <a:rPr lang="en-US" sz="1600" dirty="0"/>
              <a:t>  Reinforce that </a:t>
            </a:r>
            <a:r>
              <a:rPr lang="en-US" sz="1600" dirty="0" err="1"/>
              <a:t>RhIG</a:t>
            </a:r>
            <a:r>
              <a:rPr lang="en-US" sz="1600" dirty="0"/>
              <a:t> is effective only before sensitization occurs and that these injections are necessary with each exposure to Rh-positive blood to prevent future complications. </a:t>
            </a:r>
          </a:p>
          <a:p>
            <a:endParaRPr lang="en-IN" sz="1600" dirty="0"/>
          </a:p>
        </p:txBody>
      </p:sp>
    </p:spTree>
    <p:extLst>
      <p:ext uri="{BB962C8B-B14F-4D97-AF65-F5344CB8AC3E}">
        <p14:creationId xmlns:p14="http://schemas.microsoft.com/office/powerpoint/2010/main" val="22835558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Prevention</a:t>
            </a:r>
          </a:p>
        </p:txBody>
      </p:sp>
      <p:sp>
        <p:nvSpPr>
          <p:cNvPr id="3" name="Content Placeholder 2"/>
          <p:cNvSpPr>
            <a:spLocks noGrp="1"/>
          </p:cNvSpPr>
          <p:nvPr>
            <p:ph idx="1"/>
          </p:nvPr>
        </p:nvSpPr>
        <p:spPr/>
        <p:txBody>
          <a:bodyPr/>
          <a:lstStyle/>
          <a:p>
            <a:r>
              <a:rPr lang="en-US" dirty="0"/>
              <a:t>Administer </a:t>
            </a:r>
            <a:r>
              <a:rPr lang="en-US" dirty="0" err="1"/>
              <a:t>Rh</a:t>
            </a:r>
            <a:r>
              <a:rPr lang="en-US" dirty="0"/>
              <a:t> immunoglobulin after sensitizing events</a:t>
            </a:r>
          </a:p>
          <a:p>
            <a:r>
              <a:rPr lang="en-US" dirty="0"/>
              <a:t>Prevent mismatched transfusions</a:t>
            </a:r>
          </a:p>
          <a:p>
            <a:r>
              <a:rPr lang="en-US" dirty="0"/>
              <a:t>Use ultrasound before amniocentesis</a:t>
            </a:r>
          </a:p>
          <a:p>
            <a:r>
              <a:rPr lang="en-US" dirty="0"/>
              <a:t>Monitor </a:t>
            </a:r>
            <a:r>
              <a:rPr lang="en-US" dirty="0" err="1"/>
              <a:t>Rh</a:t>
            </a:r>
            <a:r>
              <a:rPr lang="en-US" dirty="0"/>
              <a:t> negative mothers throughout pregnancy</a:t>
            </a:r>
          </a:p>
          <a:p>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t>Treatment</a:t>
            </a:r>
          </a:p>
        </p:txBody>
      </p:sp>
      <p:sp>
        <p:nvSpPr>
          <p:cNvPr id="3" name="Content Placeholder 2"/>
          <p:cNvSpPr>
            <a:spLocks noGrp="1"/>
          </p:cNvSpPr>
          <p:nvPr>
            <p:ph idx="1"/>
          </p:nvPr>
        </p:nvSpPr>
        <p:spPr/>
        <p:txBody>
          <a:bodyPr/>
          <a:lstStyle/>
          <a:p>
            <a:r>
              <a:rPr lang="en-US" dirty="0" err="1"/>
              <a:t>Rh</a:t>
            </a:r>
            <a:r>
              <a:rPr lang="en-US" dirty="0"/>
              <a:t> immunoglobulin (7th month &amp; within 72 hrs postpartum)</a:t>
            </a:r>
          </a:p>
          <a:p>
            <a:r>
              <a:rPr lang="en-US" dirty="0"/>
              <a:t>Treat neonatal anemia (exchange transfusion / phototherapy if required)</a:t>
            </a:r>
          </a:p>
          <a:p>
            <a:r>
              <a:rPr lang="en-US" dirty="0"/>
              <a:t>Intrauterine transfusions in severe cases</a:t>
            </a:r>
          </a:p>
          <a:p>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225</TotalTime>
  <Words>995</Words>
  <Application>Microsoft Office PowerPoint</Application>
  <PresentationFormat>On-screen Show (4:3)</PresentationFormat>
  <Paragraphs>103</Paragraphs>
  <Slides>23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Rh Incompatibility</vt:lpstr>
      <vt:lpstr>RH Factor</vt:lpstr>
      <vt:lpstr>Genotype</vt:lpstr>
      <vt:lpstr>Definition</vt:lpstr>
      <vt:lpstr>Rh Type and Pregnancy</vt:lpstr>
      <vt:lpstr>PowerPoint Presentation</vt:lpstr>
      <vt:lpstr>Causes</vt:lpstr>
      <vt:lpstr>Risk Factor</vt:lpstr>
      <vt:lpstr>Pathophysiology</vt:lpstr>
      <vt:lpstr>Pathophysiology</vt:lpstr>
      <vt:lpstr>Pathophysiology</vt:lpstr>
      <vt:lpstr>Diagnostic / laboratory tests:</vt:lpstr>
      <vt:lpstr>Signs and Symptoms</vt:lpstr>
      <vt:lpstr>More severe forms / conditions:</vt:lpstr>
      <vt:lpstr>Hydrops Fetalis</vt:lpstr>
      <vt:lpstr>Icterus Gravis Neonatorum</vt:lpstr>
      <vt:lpstr>Congenital Anaemia</vt:lpstr>
      <vt:lpstr>Risk Factor and Causes </vt:lpstr>
      <vt:lpstr>Risk Factor and Causes </vt:lpstr>
      <vt:lpstr>Risk Factor and Causes </vt:lpstr>
      <vt:lpstr>Prevention</vt:lpstr>
      <vt:lpstr>Treatment</vt:lpstr>
      <vt:lpstr>PowerPoint Presentation</vt:lpstr>
    </vt:vector>
  </TitlesOfParts>
  <Company>Grizli777</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dc:title>
  <dc:creator>User</dc:creator>
  <cp:lastModifiedBy>Larisa Wahlang</cp:lastModifiedBy>
  <cp:revision>23</cp:revision>
  <dcterms:created xsi:type="dcterms:W3CDTF">2025-09-25T05:33:35Z</dcterms:created>
  <dcterms:modified xsi:type="dcterms:W3CDTF">2025-09-25T15:41:26Z</dcterms:modified>
</cp:coreProperties>
</file>